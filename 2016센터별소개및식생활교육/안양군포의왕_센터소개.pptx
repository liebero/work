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slideLayouts/slideLayout2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0" r:id="rId1"/>
    <p:sldMasterId id="2147483985" r:id="rId2"/>
  </p:sldMasterIdLst>
  <p:notesMasterIdLst>
    <p:notesMasterId r:id="rId15"/>
  </p:notesMasterIdLst>
  <p:handoutMasterIdLst>
    <p:handoutMasterId r:id="rId16"/>
  </p:handoutMasterIdLst>
  <p:sldIdLst>
    <p:sldId id="1301" r:id="rId3"/>
    <p:sldId id="1423" r:id="rId4"/>
    <p:sldId id="1447" r:id="rId5"/>
    <p:sldId id="1457" r:id="rId6"/>
    <p:sldId id="1448" r:id="rId7"/>
    <p:sldId id="1449" r:id="rId8"/>
    <p:sldId id="1450" r:id="rId9"/>
    <p:sldId id="1460" r:id="rId10"/>
    <p:sldId id="1451" r:id="rId11"/>
    <p:sldId id="1452" r:id="rId12"/>
    <p:sldId id="1462" r:id="rId13"/>
    <p:sldId id="1458" r:id="rId14"/>
  </p:sldIdLst>
  <p:sldSz cx="9144000" cy="6858000" type="screen4x3"/>
  <p:notesSz cx="6669088" cy="9918700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ctr" rtl="0" fontAlgn="base" latinLnBrk="1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ctr" rtl="0" fontAlgn="base" latinLnBrk="1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ctr" rtl="0" fontAlgn="base" latinLnBrk="1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ctr" rtl="0" fontAlgn="base" latinLnBrk="1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24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FF"/>
    <a:srgbClr val="FFFFFF"/>
    <a:srgbClr val="43A1FF"/>
    <a:srgbClr val="63BD78"/>
    <a:srgbClr val="FBD1B1"/>
    <a:srgbClr val="FF99CC"/>
    <a:srgbClr val="9933FF"/>
    <a:srgbClr val="080808"/>
    <a:srgbClr val="33133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6426" autoAdjust="0"/>
  </p:normalViewPr>
  <p:slideViewPr>
    <p:cSldViewPr>
      <p:cViewPr>
        <p:scale>
          <a:sx n="100" d="100"/>
          <a:sy n="100" d="100"/>
        </p:scale>
        <p:origin x="-1944" y="-78"/>
      </p:cViewPr>
      <p:guideLst>
        <p:guide orient="horz" pos="431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936" y="-84"/>
      </p:cViewPr>
      <p:guideLst>
        <p:guide orient="horz" pos="3124"/>
        <p:guide pos="210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665" cy="49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2" tIns="45481" rIns="90962" bIns="45481" numCol="1" anchor="t" anchorCtr="0" compatLnSpc="1">
            <a:prstTxWarp prst="textNoShape">
              <a:avLst/>
            </a:prstTxWarp>
          </a:bodyPr>
          <a:lstStyle>
            <a:lvl1pPr algn="l" defTabSz="908699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423" y="0"/>
            <a:ext cx="2890665" cy="49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2" tIns="45481" rIns="90962" bIns="45481" numCol="1" anchor="t" anchorCtr="0" compatLnSpc="1">
            <a:prstTxWarp prst="textNoShape">
              <a:avLst/>
            </a:prstTxWarp>
          </a:bodyPr>
          <a:lstStyle>
            <a:lvl1pPr algn="r" defTabSz="908699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3796"/>
            <a:ext cx="2890665" cy="49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2" tIns="45481" rIns="90962" bIns="45481" numCol="1" anchor="b" anchorCtr="0" compatLnSpc="1">
            <a:prstTxWarp prst="textNoShape">
              <a:avLst/>
            </a:prstTxWarp>
          </a:bodyPr>
          <a:lstStyle>
            <a:lvl1pPr algn="l" defTabSz="908699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423" y="9423796"/>
            <a:ext cx="2890665" cy="494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62" tIns="45481" rIns="90962" bIns="45481" numCol="1" anchor="b" anchorCtr="0" compatLnSpc="1">
            <a:prstTxWarp prst="textNoShape">
              <a:avLst/>
            </a:prstTxWarp>
          </a:bodyPr>
          <a:lstStyle>
            <a:lvl1pPr algn="r" defTabSz="908699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CF3BFC8-C2FE-46D1-84D9-C3217AFC91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xmlns="" val="5861942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338" cy="536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49" tIns="45473" rIns="90949" bIns="45473" numCol="1" anchor="t" anchorCtr="0" compatLnSpc="1">
            <a:prstTxWarp prst="textNoShape">
              <a:avLst/>
            </a:prstTxWarp>
          </a:bodyPr>
          <a:lstStyle>
            <a:lvl1pPr algn="l" defTabSz="908699" eaLnBrk="0" latinLnBrk="0" hangingPunct="0">
              <a:defRPr sz="11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2687" y="0"/>
            <a:ext cx="2892223" cy="536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49" tIns="45473" rIns="90949" bIns="45473" numCol="1" anchor="t" anchorCtr="0" compatLnSpc="1">
            <a:prstTxWarp prst="textNoShape">
              <a:avLst/>
            </a:prstTxWarp>
          </a:bodyPr>
          <a:lstStyle>
            <a:lvl1pPr algn="r" defTabSz="908699" eaLnBrk="0" latinLnBrk="0" hangingPunct="0">
              <a:defRPr sz="11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1538" y="763588"/>
            <a:ext cx="4970462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678" y="4722209"/>
            <a:ext cx="4881112" cy="4492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49" tIns="45473" rIns="90949" bIns="454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1244"/>
            <a:ext cx="2895338" cy="456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49" tIns="45473" rIns="90949" bIns="45473" numCol="1" anchor="b" anchorCtr="0" compatLnSpc="1">
            <a:prstTxWarp prst="textNoShape">
              <a:avLst/>
            </a:prstTxWarp>
          </a:bodyPr>
          <a:lstStyle>
            <a:lvl1pPr algn="l" defTabSz="908699" eaLnBrk="0" latinLnBrk="0" hangingPunct="0">
              <a:defRPr sz="11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2687" y="9441244"/>
            <a:ext cx="2892223" cy="456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949" tIns="45473" rIns="90949" bIns="45473" numCol="1" anchor="b" anchorCtr="0" compatLnSpc="1">
            <a:prstTxWarp prst="textNoShape">
              <a:avLst/>
            </a:prstTxWarp>
          </a:bodyPr>
          <a:lstStyle>
            <a:lvl1pPr algn="r" defTabSz="908699" eaLnBrk="0" latinLnBrk="0" hangingPunct="0">
              <a:defRPr sz="11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D9392E14-C50D-42D3-A507-391940D5D0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xmlns="" val="40448253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ko-KR" smtClean="0">
              <a:latin typeface="Arial" pitchFamily="34" charset="0"/>
            </a:endParaRPr>
          </a:p>
        </p:txBody>
      </p:sp>
      <p:sp>
        <p:nvSpPr>
          <p:cNvPr id="51204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6902"/>
            <a:fld id="{A3D75B33-D4A4-4B40-998D-0B808850D540}" type="slidenum">
              <a:rPr lang="en-US" altLang="ko-KR" smtClean="0"/>
              <a:pPr defTabSz="906902"/>
              <a:t>0</a:t>
            </a:fld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xmlns="" val="1439579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smtClean="0"/>
          </a:p>
        </p:txBody>
      </p:sp>
      <p:sp>
        <p:nvSpPr>
          <p:cNvPr id="99332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35013" indent="-28098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31888" indent="-2238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582738" indent="-2238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36763" indent="-223838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493963" indent="-2238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51163" indent="-2238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08363" indent="-2238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65563" indent="-2238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B094AE1-1050-41D0-9EF7-B58928585286}" type="slidenum">
              <a:rPr lang="en-US" altLang="ko-KR" sz="1300" smtClean="0"/>
              <a:pPr>
                <a:spcBef>
                  <a:spcPct val="0"/>
                </a:spcBef>
              </a:pPr>
              <a:t>11</a:t>
            </a:fld>
            <a:endParaRPr lang="en-US" altLang="ko-KR" sz="1300" smtClean="0"/>
          </a:p>
        </p:txBody>
      </p:sp>
    </p:spTree>
    <p:extLst>
      <p:ext uri="{BB962C8B-B14F-4D97-AF65-F5344CB8AC3E}">
        <p14:creationId xmlns:p14="http://schemas.microsoft.com/office/powerpoint/2010/main" xmlns="" val="3151842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3" y="144463"/>
            <a:ext cx="7935912" cy="604837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2400" y="906463"/>
            <a:ext cx="8196263" cy="2905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3" y="144463"/>
            <a:ext cx="7935912" cy="604837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2400" y="906463"/>
            <a:ext cx="4021138" cy="290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325938" y="906463"/>
            <a:ext cx="4022725" cy="2905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3" y="144463"/>
            <a:ext cx="7935912" cy="604837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3" y="144463"/>
            <a:ext cx="7935912" cy="604837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2400" y="906463"/>
            <a:ext cx="8196263" cy="290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291263" y="144463"/>
            <a:ext cx="2057400" cy="1052512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9063" y="144463"/>
            <a:ext cx="6019800" cy="10525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9063" y="144463"/>
            <a:ext cx="7935912" cy="604837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52400" y="906463"/>
            <a:ext cx="8196263" cy="290512"/>
          </a:xfrm>
          <a:prstGeom prst="rect">
            <a:avLst/>
          </a:prstGeom>
        </p:spPr>
        <p:txBody>
          <a:bodyPr/>
          <a:lstStyle/>
          <a:p>
            <a:pPr lvl="0"/>
            <a:endParaRPr lang="ko-KR" alt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 userDrawn="1"/>
        </p:nvSpPr>
        <p:spPr bwMode="auto">
          <a:xfrm>
            <a:off x="1588" y="0"/>
            <a:ext cx="9140825" cy="68564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4" name="Rectangle 27"/>
          <p:cNvSpPr>
            <a:spLocks noChangeArrowheads="1"/>
          </p:cNvSpPr>
          <p:nvPr userDrawn="1"/>
        </p:nvSpPr>
        <p:spPr bwMode="auto">
          <a:xfrm>
            <a:off x="0" y="0"/>
            <a:ext cx="9110663" cy="1420813"/>
          </a:xfrm>
          <a:prstGeom prst="rect">
            <a:avLst/>
          </a:prstGeom>
          <a:gradFill flip="none" rotWithShape="1">
            <a:gsLst>
              <a:gs pos="0">
                <a:srgbClr val="3F5D8D">
                  <a:shade val="30000"/>
                  <a:satMod val="115000"/>
                </a:srgbClr>
              </a:gs>
              <a:gs pos="0">
                <a:srgbClr val="3F5D8D">
                  <a:shade val="30000"/>
                  <a:satMod val="115000"/>
                </a:srgbClr>
              </a:gs>
              <a:gs pos="50000">
                <a:srgbClr val="3F5D8D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 userDrawn="1"/>
        </p:nvSpPr>
        <p:spPr bwMode="auto">
          <a:xfrm>
            <a:off x="6588125" y="0"/>
            <a:ext cx="2555875" cy="2008188"/>
          </a:xfrm>
          <a:custGeom>
            <a:avLst/>
            <a:gdLst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2562225 w 3149600"/>
              <a:gd name="connsiteY4" fmla="*/ 882650 h 914400"/>
              <a:gd name="connsiteX5" fmla="*/ 0 w 3149600"/>
              <a:gd name="connsiteY5" fmla="*/ 914400 h 914400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136900 w 3224277"/>
              <a:gd name="connsiteY2" fmla="*/ 0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086100 w 3224277"/>
              <a:gd name="connsiteY2" fmla="*/ 25399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086100"/>
              <a:gd name="connsiteY0" fmla="*/ 914400 h 2038381"/>
              <a:gd name="connsiteX1" fmla="*/ 1104900 w 3086100"/>
              <a:gd name="connsiteY1" fmla="*/ 0 h 2038381"/>
              <a:gd name="connsiteX2" fmla="*/ 3086100 w 3086100"/>
              <a:gd name="connsiteY2" fmla="*/ 25399 h 2038381"/>
              <a:gd name="connsiteX3" fmla="*/ 3086100 w 3086100"/>
              <a:gd name="connsiteY3" fmla="*/ 2030392 h 2038381"/>
              <a:gd name="connsiteX4" fmla="*/ 2562225 w 3086100"/>
              <a:gd name="connsiteY4" fmla="*/ 882650 h 2038381"/>
              <a:gd name="connsiteX5" fmla="*/ 0 w 3086100"/>
              <a:gd name="connsiteY5" fmla="*/ 914400 h 2038381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968346 w 3086100"/>
              <a:gd name="connsiteY1" fmla="*/ 0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2738475"/>
              <a:gd name="connsiteY0" fmla="*/ 873090 h 2012982"/>
              <a:gd name="connsiteX1" fmla="*/ 620721 w 2738475"/>
              <a:gd name="connsiteY1" fmla="*/ 0 h 2012982"/>
              <a:gd name="connsiteX2" fmla="*/ 2738475 w 2738475"/>
              <a:gd name="connsiteY2" fmla="*/ 0 h 2012982"/>
              <a:gd name="connsiteX3" fmla="*/ 2738475 w 2738475"/>
              <a:gd name="connsiteY3" fmla="*/ 2004993 h 2012982"/>
              <a:gd name="connsiteX4" fmla="*/ 2214600 w 2738475"/>
              <a:gd name="connsiteY4" fmla="*/ 857251 h 2012982"/>
              <a:gd name="connsiteX5" fmla="*/ 0 w 2738475"/>
              <a:gd name="connsiteY5" fmla="*/ 873090 h 2012982"/>
              <a:gd name="connsiteX0" fmla="*/ 0 w 2848014"/>
              <a:gd name="connsiteY0" fmla="*/ 836577 h 2012982"/>
              <a:gd name="connsiteX1" fmla="*/ 730260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278119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544823"/>
              <a:gd name="connsiteY0" fmla="*/ 836577 h 2008229"/>
              <a:gd name="connsiteX1" fmla="*/ 803286 w 2544823"/>
              <a:gd name="connsiteY1" fmla="*/ 0 h 2008229"/>
              <a:gd name="connsiteX2" fmla="*/ 2278119 w 2544823"/>
              <a:gd name="connsiteY2" fmla="*/ 0 h 2008229"/>
              <a:gd name="connsiteX3" fmla="*/ 2349360 w 2544823"/>
              <a:gd name="connsiteY3" fmla="*/ 2000240 h 2008229"/>
              <a:gd name="connsiteX4" fmla="*/ 2324139 w 2544823"/>
              <a:gd name="connsiteY4" fmla="*/ 857251 h 2008229"/>
              <a:gd name="connsiteX5" fmla="*/ 0 w 2544823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3 w 2349360"/>
              <a:gd name="connsiteY4" fmla="*/ 928671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349360 w 2349360"/>
              <a:gd name="connsiteY2" fmla="*/ 1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563115"/>
              <a:gd name="connsiteY0" fmla="*/ 836577 h 2008229"/>
              <a:gd name="connsiteX1" fmla="*/ 803286 w 2563115"/>
              <a:gd name="connsiteY1" fmla="*/ 0 h 2008229"/>
              <a:gd name="connsiteX2" fmla="*/ 2563115 w 2563115"/>
              <a:gd name="connsiteY2" fmla="*/ 1 h 2008229"/>
              <a:gd name="connsiteX3" fmla="*/ 2349360 w 2563115"/>
              <a:gd name="connsiteY3" fmla="*/ 2000240 h 2008229"/>
              <a:gd name="connsiteX4" fmla="*/ 1921914 w 2563115"/>
              <a:gd name="connsiteY4" fmla="*/ 857233 h 2008229"/>
              <a:gd name="connsiteX5" fmla="*/ 0 w 2563115"/>
              <a:gd name="connsiteY5" fmla="*/ 836577 h 2008229"/>
              <a:gd name="connsiteX0" fmla="*/ 0 w 2563115"/>
              <a:gd name="connsiteY0" fmla="*/ 836577 h 2008230"/>
              <a:gd name="connsiteX1" fmla="*/ 803286 w 2563115"/>
              <a:gd name="connsiteY1" fmla="*/ 0 h 2008230"/>
              <a:gd name="connsiteX2" fmla="*/ 2563115 w 2563115"/>
              <a:gd name="connsiteY2" fmla="*/ 1 h 2008230"/>
              <a:gd name="connsiteX3" fmla="*/ 2563115 w 2563115"/>
              <a:gd name="connsiteY3" fmla="*/ 2000241 h 2008230"/>
              <a:gd name="connsiteX4" fmla="*/ 1921914 w 2563115"/>
              <a:gd name="connsiteY4" fmla="*/ 857233 h 2008230"/>
              <a:gd name="connsiteX5" fmla="*/ 0 w 2563115"/>
              <a:gd name="connsiteY5" fmla="*/ 836577 h 2008230"/>
              <a:gd name="connsiteX0" fmla="*/ 0 w 2707126"/>
              <a:gd name="connsiteY0" fmla="*/ 836577 h 2008230"/>
              <a:gd name="connsiteX1" fmla="*/ 803286 w 2707126"/>
              <a:gd name="connsiteY1" fmla="*/ 0 h 2008230"/>
              <a:gd name="connsiteX2" fmla="*/ 2707126 w 2707126"/>
              <a:gd name="connsiteY2" fmla="*/ 0 h 2008230"/>
              <a:gd name="connsiteX3" fmla="*/ 2563115 w 2707126"/>
              <a:gd name="connsiteY3" fmla="*/ 2000241 h 2008230"/>
              <a:gd name="connsiteX4" fmla="*/ 1921914 w 2707126"/>
              <a:gd name="connsiteY4" fmla="*/ 857233 h 2008230"/>
              <a:gd name="connsiteX5" fmla="*/ 0 w 2707126"/>
              <a:gd name="connsiteY5" fmla="*/ 836577 h 2008230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1921914 w 2707126"/>
              <a:gd name="connsiteY4" fmla="*/ 857233 h 2008229"/>
              <a:gd name="connsiteX5" fmla="*/ 0 w 2707126"/>
              <a:gd name="connsiteY5" fmla="*/ 836577 h 2008229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2279711 w 2707126"/>
              <a:gd name="connsiteY4" fmla="*/ 857233 h 2008229"/>
              <a:gd name="connsiteX5" fmla="*/ 0 w 2707126"/>
              <a:gd name="connsiteY5" fmla="*/ 836577 h 2008229"/>
              <a:gd name="connsiteX0" fmla="*/ 0 w 2350922"/>
              <a:gd name="connsiteY0" fmla="*/ 785795 h 2008229"/>
              <a:gd name="connsiteX1" fmla="*/ 447082 w 2350922"/>
              <a:gd name="connsiteY1" fmla="*/ 0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284964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564645"/>
              <a:gd name="connsiteY0" fmla="*/ 785795 h 2008229"/>
              <a:gd name="connsiteX1" fmla="*/ 498687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564645"/>
              <a:gd name="connsiteY0" fmla="*/ 785795 h 2008229"/>
              <a:gd name="connsiteX1" fmla="*/ 641169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350922"/>
              <a:gd name="connsiteY0" fmla="*/ 785795 h 2008229"/>
              <a:gd name="connsiteX1" fmla="*/ 427446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569928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498687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422163"/>
              <a:gd name="connsiteY0" fmla="*/ 785795 h 2008229"/>
              <a:gd name="connsiteX1" fmla="*/ 569928 w 2422163"/>
              <a:gd name="connsiteY1" fmla="*/ 1 h 2008229"/>
              <a:gd name="connsiteX2" fmla="*/ 2422163 w 2422163"/>
              <a:gd name="connsiteY2" fmla="*/ 0 h 2008229"/>
              <a:gd name="connsiteX3" fmla="*/ 2422162 w 2422163"/>
              <a:gd name="connsiteY3" fmla="*/ 2000240 h 2008229"/>
              <a:gd name="connsiteX4" fmla="*/ 1994748 w 2422163"/>
              <a:gd name="connsiteY4" fmla="*/ 857233 h 2008229"/>
              <a:gd name="connsiteX5" fmla="*/ 0 w 2422163"/>
              <a:gd name="connsiteY5" fmla="*/ 785795 h 200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2163" h="2008229">
                <a:moveTo>
                  <a:pt x="0" y="785795"/>
                </a:moveTo>
                <a:cubicBezTo>
                  <a:pt x="44345" y="235086"/>
                  <a:pt x="468176" y="638367"/>
                  <a:pt x="569928" y="1"/>
                </a:cubicBezTo>
                <a:lnTo>
                  <a:pt x="2422163" y="0"/>
                </a:lnTo>
                <a:cubicBezTo>
                  <a:pt x="2422163" y="666747"/>
                  <a:pt x="2422162" y="1333493"/>
                  <a:pt x="2422162" y="2000240"/>
                </a:cubicBezTo>
                <a:cubicBezTo>
                  <a:pt x="1479111" y="2008229"/>
                  <a:pt x="2215432" y="1239814"/>
                  <a:pt x="1994748" y="857233"/>
                </a:cubicBezTo>
                <a:lnTo>
                  <a:pt x="0" y="78579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6" name="Rectangle 21"/>
          <p:cNvSpPr>
            <a:spLocks noChangeArrowheads="1"/>
          </p:cNvSpPr>
          <p:nvPr userDrawn="1"/>
        </p:nvSpPr>
        <p:spPr bwMode="auto">
          <a:xfrm>
            <a:off x="0" y="6489700"/>
            <a:ext cx="9144000" cy="368300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 dirty="0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auto">
          <a:xfrm>
            <a:off x="0" y="6489700"/>
            <a:ext cx="9134475" cy="0"/>
          </a:xfrm>
          <a:prstGeom prst="line">
            <a:avLst/>
          </a:prstGeom>
          <a:noFill/>
          <a:ln w="28575">
            <a:solidFill>
              <a:srgbClr val="4E73B0"/>
            </a:solidFill>
            <a:round/>
            <a:headEnd/>
            <a:tailEnd/>
          </a:ln>
          <a:effectLst>
            <a:outerShdw dist="28398" dir="3806097" algn="ctr" rotWithShape="0">
              <a:srgbClr val="EAEAEA"/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Picture 32" descr="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8450" y="6500813"/>
            <a:ext cx="1143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모서리가 둥근 직사각형 8"/>
          <p:cNvSpPr/>
          <p:nvPr userDrawn="1"/>
        </p:nvSpPr>
        <p:spPr bwMode="auto">
          <a:xfrm>
            <a:off x="227013" y="785813"/>
            <a:ext cx="8689975" cy="5513387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0" name="모서리가 둥근 직사각형 9"/>
          <p:cNvSpPr/>
          <p:nvPr userDrawn="1"/>
        </p:nvSpPr>
        <p:spPr bwMode="auto">
          <a:xfrm>
            <a:off x="227013" y="773113"/>
            <a:ext cx="8689975" cy="5538787"/>
          </a:xfrm>
          <a:prstGeom prst="roundRect">
            <a:avLst>
              <a:gd name="adj" fmla="val 1626"/>
            </a:avLst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98438" y="6551613"/>
            <a:ext cx="31670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10" dirty="0">
                <a:ln w="9525">
                  <a:noFill/>
                  <a:round/>
                  <a:headEnd/>
                  <a:tailEnd/>
                </a:ln>
                <a:solidFill>
                  <a:srgbClr val="37527D"/>
                </a:solidFill>
                <a:latin typeface="HY견고딕" pitchFamily="18" charset="-127"/>
                <a:ea typeface="HY견고딕" pitchFamily="18" charset="-127"/>
              </a:rPr>
              <a:t>Dissemination of KVER Program to Thailand</a:t>
            </a:r>
            <a:endParaRPr lang="ko-KR" altLang="en-US" sz="1000" kern="10" dirty="0">
              <a:ln w="9525">
                <a:noFill/>
                <a:round/>
                <a:headEnd/>
                <a:tailEnd/>
              </a:ln>
              <a:solidFill>
                <a:srgbClr val="3752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0450" y="238125"/>
            <a:ext cx="15541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63500"/>
            <a:ext cx="7345363" cy="650856"/>
          </a:xfrm>
        </p:spPr>
        <p:txBody>
          <a:bodyPr rtlCol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0" kern="1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505200" y="6572250"/>
            <a:ext cx="2133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1" hangingPunct="1">
              <a:defRPr lang="en-US" altLang="ko-KR" sz="1000" b="1" kern="1200">
                <a:solidFill>
                  <a:srgbClr val="4E73B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60DCBC2-0271-41B4-A71D-B30904525864}" type="slidenum">
              <a:rPr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 userDrawn="1"/>
        </p:nvSpPr>
        <p:spPr bwMode="auto">
          <a:xfrm>
            <a:off x="1588" y="0"/>
            <a:ext cx="9140825" cy="68564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4" name="Rectangle 27"/>
          <p:cNvSpPr>
            <a:spLocks noChangeArrowheads="1"/>
          </p:cNvSpPr>
          <p:nvPr userDrawn="1"/>
        </p:nvSpPr>
        <p:spPr bwMode="auto">
          <a:xfrm>
            <a:off x="0" y="0"/>
            <a:ext cx="9110663" cy="1420813"/>
          </a:xfrm>
          <a:prstGeom prst="rect">
            <a:avLst/>
          </a:prstGeom>
          <a:gradFill flip="none" rotWithShape="1">
            <a:gsLst>
              <a:gs pos="0">
                <a:srgbClr val="3F5D8D">
                  <a:shade val="30000"/>
                  <a:satMod val="115000"/>
                </a:srgbClr>
              </a:gs>
              <a:gs pos="0">
                <a:srgbClr val="3F5D8D">
                  <a:shade val="30000"/>
                  <a:satMod val="115000"/>
                </a:srgbClr>
              </a:gs>
              <a:gs pos="50000">
                <a:srgbClr val="3F5D8D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 userDrawn="1"/>
        </p:nvSpPr>
        <p:spPr bwMode="auto">
          <a:xfrm>
            <a:off x="6588125" y="0"/>
            <a:ext cx="2555875" cy="2008188"/>
          </a:xfrm>
          <a:custGeom>
            <a:avLst/>
            <a:gdLst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2562225 w 3149600"/>
              <a:gd name="connsiteY4" fmla="*/ 882650 h 914400"/>
              <a:gd name="connsiteX5" fmla="*/ 0 w 3149600"/>
              <a:gd name="connsiteY5" fmla="*/ 914400 h 914400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136900 w 3224277"/>
              <a:gd name="connsiteY2" fmla="*/ 0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086100 w 3224277"/>
              <a:gd name="connsiteY2" fmla="*/ 25399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086100"/>
              <a:gd name="connsiteY0" fmla="*/ 914400 h 2038381"/>
              <a:gd name="connsiteX1" fmla="*/ 1104900 w 3086100"/>
              <a:gd name="connsiteY1" fmla="*/ 0 h 2038381"/>
              <a:gd name="connsiteX2" fmla="*/ 3086100 w 3086100"/>
              <a:gd name="connsiteY2" fmla="*/ 25399 h 2038381"/>
              <a:gd name="connsiteX3" fmla="*/ 3086100 w 3086100"/>
              <a:gd name="connsiteY3" fmla="*/ 2030392 h 2038381"/>
              <a:gd name="connsiteX4" fmla="*/ 2562225 w 3086100"/>
              <a:gd name="connsiteY4" fmla="*/ 882650 h 2038381"/>
              <a:gd name="connsiteX5" fmla="*/ 0 w 3086100"/>
              <a:gd name="connsiteY5" fmla="*/ 914400 h 2038381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968346 w 3086100"/>
              <a:gd name="connsiteY1" fmla="*/ 0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2738475"/>
              <a:gd name="connsiteY0" fmla="*/ 873090 h 2012982"/>
              <a:gd name="connsiteX1" fmla="*/ 620721 w 2738475"/>
              <a:gd name="connsiteY1" fmla="*/ 0 h 2012982"/>
              <a:gd name="connsiteX2" fmla="*/ 2738475 w 2738475"/>
              <a:gd name="connsiteY2" fmla="*/ 0 h 2012982"/>
              <a:gd name="connsiteX3" fmla="*/ 2738475 w 2738475"/>
              <a:gd name="connsiteY3" fmla="*/ 2004993 h 2012982"/>
              <a:gd name="connsiteX4" fmla="*/ 2214600 w 2738475"/>
              <a:gd name="connsiteY4" fmla="*/ 857251 h 2012982"/>
              <a:gd name="connsiteX5" fmla="*/ 0 w 2738475"/>
              <a:gd name="connsiteY5" fmla="*/ 873090 h 2012982"/>
              <a:gd name="connsiteX0" fmla="*/ 0 w 2848014"/>
              <a:gd name="connsiteY0" fmla="*/ 836577 h 2012982"/>
              <a:gd name="connsiteX1" fmla="*/ 730260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278119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544823"/>
              <a:gd name="connsiteY0" fmla="*/ 836577 h 2008229"/>
              <a:gd name="connsiteX1" fmla="*/ 803286 w 2544823"/>
              <a:gd name="connsiteY1" fmla="*/ 0 h 2008229"/>
              <a:gd name="connsiteX2" fmla="*/ 2278119 w 2544823"/>
              <a:gd name="connsiteY2" fmla="*/ 0 h 2008229"/>
              <a:gd name="connsiteX3" fmla="*/ 2349360 w 2544823"/>
              <a:gd name="connsiteY3" fmla="*/ 2000240 h 2008229"/>
              <a:gd name="connsiteX4" fmla="*/ 2324139 w 2544823"/>
              <a:gd name="connsiteY4" fmla="*/ 857251 h 2008229"/>
              <a:gd name="connsiteX5" fmla="*/ 0 w 2544823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3 w 2349360"/>
              <a:gd name="connsiteY4" fmla="*/ 928671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349360 w 2349360"/>
              <a:gd name="connsiteY2" fmla="*/ 1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563115"/>
              <a:gd name="connsiteY0" fmla="*/ 836577 h 2008229"/>
              <a:gd name="connsiteX1" fmla="*/ 803286 w 2563115"/>
              <a:gd name="connsiteY1" fmla="*/ 0 h 2008229"/>
              <a:gd name="connsiteX2" fmla="*/ 2563115 w 2563115"/>
              <a:gd name="connsiteY2" fmla="*/ 1 h 2008229"/>
              <a:gd name="connsiteX3" fmla="*/ 2349360 w 2563115"/>
              <a:gd name="connsiteY3" fmla="*/ 2000240 h 2008229"/>
              <a:gd name="connsiteX4" fmla="*/ 1921914 w 2563115"/>
              <a:gd name="connsiteY4" fmla="*/ 857233 h 2008229"/>
              <a:gd name="connsiteX5" fmla="*/ 0 w 2563115"/>
              <a:gd name="connsiteY5" fmla="*/ 836577 h 2008229"/>
              <a:gd name="connsiteX0" fmla="*/ 0 w 2563115"/>
              <a:gd name="connsiteY0" fmla="*/ 836577 h 2008230"/>
              <a:gd name="connsiteX1" fmla="*/ 803286 w 2563115"/>
              <a:gd name="connsiteY1" fmla="*/ 0 h 2008230"/>
              <a:gd name="connsiteX2" fmla="*/ 2563115 w 2563115"/>
              <a:gd name="connsiteY2" fmla="*/ 1 h 2008230"/>
              <a:gd name="connsiteX3" fmla="*/ 2563115 w 2563115"/>
              <a:gd name="connsiteY3" fmla="*/ 2000241 h 2008230"/>
              <a:gd name="connsiteX4" fmla="*/ 1921914 w 2563115"/>
              <a:gd name="connsiteY4" fmla="*/ 857233 h 2008230"/>
              <a:gd name="connsiteX5" fmla="*/ 0 w 2563115"/>
              <a:gd name="connsiteY5" fmla="*/ 836577 h 2008230"/>
              <a:gd name="connsiteX0" fmla="*/ 0 w 2707126"/>
              <a:gd name="connsiteY0" fmla="*/ 836577 h 2008230"/>
              <a:gd name="connsiteX1" fmla="*/ 803286 w 2707126"/>
              <a:gd name="connsiteY1" fmla="*/ 0 h 2008230"/>
              <a:gd name="connsiteX2" fmla="*/ 2707126 w 2707126"/>
              <a:gd name="connsiteY2" fmla="*/ 0 h 2008230"/>
              <a:gd name="connsiteX3" fmla="*/ 2563115 w 2707126"/>
              <a:gd name="connsiteY3" fmla="*/ 2000241 h 2008230"/>
              <a:gd name="connsiteX4" fmla="*/ 1921914 w 2707126"/>
              <a:gd name="connsiteY4" fmla="*/ 857233 h 2008230"/>
              <a:gd name="connsiteX5" fmla="*/ 0 w 2707126"/>
              <a:gd name="connsiteY5" fmla="*/ 836577 h 2008230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1921914 w 2707126"/>
              <a:gd name="connsiteY4" fmla="*/ 857233 h 2008229"/>
              <a:gd name="connsiteX5" fmla="*/ 0 w 2707126"/>
              <a:gd name="connsiteY5" fmla="*/ 836577 h 2008229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2279711 w 2707126"/>
              <a:gd name="connsiteY4" fmla="*/ 857233 h 2008229"/>
              <a:gd name="connsiteX5" fmla="*/ 0 w 2707126"/>
              <a:gd name="connsiteY5" fmla="*/ 836577 h 2008229"/>
              <a:gd name="connsiteX0" fmla="*/ 0 w 2350922"/>
              <a:gd name="connsiteY0" fmla="*/ 785795 h 2008229"/>
              <a:gd name="connsiteX1" fmla="*/ 447082 w 2350922"/>
              <a:gd name="connsiteY1" fmla="*/ 0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284964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564645"/>
              <a:gd name="connsiteY0" fmla="*/ 785795 h 2008229"/>
              <a:gd name="connsiteX1" fmla="*/ 498687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564645"/>
              <a:gd name="connsiteY0" fmla="*/ 785795 h 2008229"/>
              <a:gd name="connsiteX1" fmla="*/ 641169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350922"/>
              <a:gd name="connsiteY0" fmla="*/ 785795 h 2008229"/>
              <a:gd name="connsiteX1" fmla="*/ 427446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569928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498687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422163"/>
              <a:gd name="connsiteY0" fmla="*/ 785795 h 2008229"/>
              <a:gd name="connsiteX1" fmla="*/ 569928 w 2422163"/>
              <a:gd name="connsiteY1" fmla="*/ 1 h 2008229"/>
              <a:gd name="connsiteX2" fmla="*/ 2422163 w 2422163"/>
              <a:gd name="connsiteY2" fmla="*/ 0 h 2008229"/>
              <a:gd name="connsiteX3" fmla="*/ 2422162 w 2422163"/>
              <a:gd name="connsiteY3" fmla="*/ 2000240 h 2008229"/>
              <a:gd name="connsiteX4" fmla="*/ 1994748 w 2422163"/>
              <a:gd name="connsiteY4" fmla="*/ 857233 h 2008229"/>
              <a:gd name="connsiteX5" fmla="*/ 0 w 2422163"/>
              <a:gd name="connsiteY5" fmla="*/ 785795 h 200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2163" h="2008229">
                <a:moveTo>
                  <a:pt x="0" y="785795"/>
                </a:moveTo>
                <a:cubicBezTo>
                  <a:pt x="44345" y="235086"/>
                  <a:pt x="468176" y="638367"/>
                  <a:pt x="569928" y="1"/>
                </a:cubicBezTo>
                <a:lnTo>
                  <a:pt x="2422163" y="0"/>
                </a:lnTo>
                <a:cubicBezTo>
                  <a:pt x="2422163" y="666747"/>
                  <a:pt x="2422162" y="1333493"/>
                  <a:pt x="2422162" y="2000240"/>
                </a:cubicBezTo>
                <a:cubicBezTo>
                  <a:pt x="1479111" y="2008229"/>
                  <a:pt x="2215432" y="1239814"/>
                  <a:pt x="1994748" y="857233"/>
                </a:cubicBezTo>
                <a:lnTo>
                  <a:pt x="0" y="78579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6" name="Rectangle 21"/>
          <p:cNvSpPr>
            <a:spLocks noChangeArrowheads="1"/>
          </p:cNvSpPr>
          <p:nvPr userDrawn="1"/>
        </p:nvSpPr>
        <p:spPr bwMode="auto">
          <a:xfrm>
            <a:off x="0" y="6489700"/>
            <a:ext cx="9144000" cy="368300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 dirty="0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auto">
          <a:xfrm>
            <a:off x="0" y="6489700"/>
            <a:ext cx="9134475" cy="0"/>
          </a:xfrm>
          <a:prstGeom prst="line">
            <a:avLst/>
          </a:prstGeom>
          <a:noFill/>
          <a:ln w="28575">
            <a:solidFill>
              <a:srgbClr val="4E73B0"/>
            </a:solidFill>
            <a:round/>
            <a:headEnd/>
            <a:tailEnd/>
          </a:ln>
          <a:effectLst>
            <a:outerShdw dist="28398" dir="3806097" algn="ctr" rotWithShape="0">
              <a:srgbClr val="EAEAEA"/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Picture 32" descr="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8450" y="6500813"/>
            <a:ext cx="1143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모서리가 둥근 직사각형 8"/>
          <p:cNvSpPr/>
          <p:nvPr userDrawn="1"/>
        </p:nvSpPr>
        <p:spPr bwMode="auto">
          <a:xfrm>
            <a:off x="227013" y="785813"/>
            <a:ext cx="8689975" cy="5513387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0" name="모서리가 둥근 직사각형 9"/>
          <p:cNvSpPr/>
          <p:nvPr userDrawn="1"/>
        </p:nvSpPr>
        <p:spPr bwMode="auto">
          <a:xfrm>
            <a:off x="227013" y="773113"/>
            <a:ext cx="8689975" cy="5538787"/>
          </a:xfrm>
          <a:prstGeom prst="roundRect">
            <a:avLst>
              <a:gd name="adj" fmla="val 1626"/>
            </a:avLst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98438" y="6551613"/>
            <a:ext cx="31670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10" dirty="0">
                <a:ln w="9525">
                  <a:noFill/>
                  <a:round/>
                  <a:headEnd/>
                  <a:tailEnd/>
                </a:ln>
                <a:solidFill>
                  <a:srgbClr val="37527D"/>
                </a:solidFill>
                <a:latin typeface="HY견고딕" pitchFamily="18" charset="-127"/>
                <a:ea typeface="HY견고딕" pitchFamily="18" charset="-127"/>
              </a:rPr>
              <a:t>Dissemination of KVER Program to Thailand</a:t>
            </a:r>
            <a:endParaRPr lang="ko-KR" altLang="en-US" sz="1000" kern="10" dirty="0">
              <a:ln w="9525">
                <a:noFill/>
                <a:round/>
                <a:headEnd/>
                <a:tailEnd/>
              </a:ln>
              <a:solidFill>
                <a:srgbClr val="3752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0450" y="238125"/>
            <a:ext cx="15541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63500"/>
            <a:ext cx="7345363" cy="650856"/>
          </a:xfrm>
        </p:spPr>
        <p:txBody>
          <a:bodyPr rtlCol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0" kern="1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505200" y="6572250"/>
            <a:ext cx="2133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1" hangingPunct="1">
              <a:defRPr lang="en-US" altLang="ko-KR" sz="1000" b="1" kern="1200">
                <a:solidFill>
                  <a:srgbClr val="4E73B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0910ECF-076F-4D0A-8391-A5FBBC98717D}" type="slidenum">
              <a:rPr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 userDrawn="1"/>
        </p:nvSpPr>
        <p:spPr bwMode="auto">
          <a:xfrm>
            <a:off x="1588" y="0"/>
            <a:ext cx="9140825" cy="68564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4" name="Rectangle 27"/>
          <p:cNvSpPr>
            <a:spLocks noChangeArrowheads="1"/>
          </p:cNvSpPr>
          <p:nvPr userDrawn="1"/>
        </p:nvSpPr>
        <p:spPr bwMode="auto">
          <a:xfrm>
            <a:off x="0" y="0"/>
            <a:ext cx="9110663" cy="1420813"/>
          </a:xfrm>
          <a:prstGeom prst="rect">
            <a:avLst/>
          </a:prstGeom>
          <a:gradFill flip="none" rotWithShape="1">
            <a:gsLst>
              <a:gs pos="0">
                <a:srgbClr val="3F5D8D">
                  <a:shade val="30000"/>
                  <a:satMod val="115000"/>
                </a:srgbClr>
              </a:gs>
              <a:gs pos="0">
                <a:srgbClr val="3F5D8D">
                  <a:shade val="30000"/>
                  <a:satMod val="115000"/>
                </a:srgbClr>
              </a:gs>
              <a:gs pos="50000">
                <a:srgbClr val="3F5D8D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 userDrawn="1"/>
        </p:nvSpPr>
        <p:spPr bwMode="auto">
          <a:xfrm>
            <a:off x="6588125" y="0"/>
            <a:ext cx="2555875" cy="2008188"/>
          </a:xfrm>
          <a:custGeom>
            <a:avLst/>
            <a:gdLst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2562225 w 3149600"/>
              <a:gd name="connsiteY4" fmla="*/ 882650 h 914400"/>
              <a:gd name="connsiteX5" fmla="*/ 0 w 3149600"/>
              <a:gd name="connsiteY5" fmla="*/ 914400 h 914400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136900 w 3224277"/>
              <a:gd name="connsiteY2" fmla="*/ 0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086100 w 3224277"/>
              <a:gd name="connsiteY2" fmla="*/ 25399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086100"/>
              <a:gd name="connsiteY0" fmla="*/ 914400 h 2038381"/>
              <a:gd name="connsiteX1" fmla="*/ 1104900 w 3086100"/>
              <a:gd name="connsiteY1" fmla="*/ 0 h 2038381"/>
              <a:gd name="connsiteX2" fmla="*/ 3086100 w 3086100"/>
              <a:gd name="connsiteY2" fmla="*/ 25399 h 2038381"/>
              <a:gd name="connsiteX3" fmla="*/ 3086100 w 3086100"/>
              <a:gd name="connsiteY3" fmla="*/ 2030392 h 2038381"/>
              <a:gd name="connsiteX4" fmla="*/ 2562225 w 3086100"/>
              <a:gd name="connsiteY4" fmla="*/ 882650 h 2038381"/>
              <a:gd name="connsiteX5" fmla="*/ 0 w 3086100"/>
              <a:gd name="connsiteY5" fmla="*/ 914400 h 2038381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968346 w 3086100"/>
              <a:gd name="connsiteY1" fmla="*/ 0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2738475"/>
              <a:gd name="connsiteY0" fmla="*/ 873090 h 2012982"/>
              <a:gd name="connsiteX1" fmla="*/ 620721 w 2738475"/>
              <a:gd name="connsiteY1" fmla="*/ 0 h 2012982"/>
              <a:gd name="connsiteX2" fmla="*/ 2738475 w 2738475"/>
              <a:gd name="connsiteY2" fmla="*/ 0 h 2012982"/>
              <a:gd name="connsiteX3" fmla="*/ 2738475 w 2738475"/>
              <a:gd name="connsiteY3" fmla="*/ 2004993 h 2012982"/>
              <a:gd name="connsiteX4" fmla="*/ 2214600 w 2738475"/>
              <a:gd name="connsiteY4" fmla="*/ 857251 h 2012982"/>
              <a:gd name="connsiteX5" fmla="*/ 0 w 2738475"/>
              <a:gd name="connsiteY5" fmla="*/ 873090 h 2012982"/>
              <a:gd name="connsiteX0" fmla="*/ 0 w 2848014"/>
              <a:gd name="connsiteY0" fmla="*/ 836577 h 2012982"/>
              <a:gd name="connsiteX1" fmla="*/ 730260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278119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544823"/>
              <a:gd name="connsiteY0" fmla="*/ 836577 h 2008229"/>
              <a:gd name="connsiteX1" fmla="*/ 803286 w 2544823"/>
              <a:gd name="connsiteY1" fmla="*/ 0 h 2008229"/>
              <a:gd name="connsiteX2" fmla="*/ 2278119 w 2544823"/>
              <a:gd name="connsiteY2" fmla="*/ 0 h 2008229"/>
              <a:gd name="connsiteX3" fmla="*/ 2349360 w 2544823"/>
              <a:gd name="connsiteY3" fmla="*/ 2000240 h 2008229"/>
              <a:gd name="connsiteX4" fmla="*/ 2324139 w 2544823"/>
              <a:gd name="connsiteY4" fmla="*/ 857251 h 2008229"/>
              <a:gd name="connsiteX5" fmla="*/ 0 w 2544823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3 w 2349360"/>
              <a:gd name="connsiteY4" fmla="*/ 928671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349360 w 2349360"/>
              <a:gd name="connsiteY2" fmla="*/ 1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563115"/>
              <a:gd name="connsiteY0" fmla="*/ 836577 h 2008229"/>
              <a:gd name="connsiteX1" fmla="*/ 803286 w 2563115"/>
              <a:gd name="connsiteY1" fmla="*/ 0 h 2008229"/>
              <a:gd name="connsiteX2" fmla="*/ 2563115 w 2563115"/>
              <a:gd name="connsiteY2" fmla="*/ 1 h 2008229"/>
              <a:gd name="connsiteX3" fmla="*/ 2349360 w 2563115"/>
              <a:gd name="connsiteY3" fmla="*/ 2000240 h 2008229"/>
              <a:gd name="connsiteX4" fmla="*/ 1921914 w 2563115"/>
              <a:gd name="connsiteY4" fmla="*/ 857233 h 2008229"/>
              <a:gd name="connsiteX5" fmla="*/ 0 w 2563115"/>
              <a:gd name="connsiteY5" fmla="*/ 836577 h 2008229"/>
              <a:gd name="connsiteX0" fmla="*/ 0 w 2563115"/>
              <a:gd name="connsiteY0" fmla="*/ 836577 h 2008230"/>
              <a:gd name="connsiteX1" fmla="*/ 803286 w 2563115"/>
              <a:gd name="connsiteY1" fmla="*/ 0 h 2008230"/>
              <a:gd name="connsiteX2" fmla="*/ 2563115 w 2563115"/>
              <a:gd name="connsiteY2" fmla="*/ 1 h 2008230"/>
              <a:gd name="connsiteX3" fmla="*/ 2563115 w 2563115"/>
              <a:gd name="connsiteY3" fmla="*/ 2000241 h 2008230"/>
              <a:gd name="connsiteX4" fmla="*/ 1921914 w 2563115"/>
              <a:gd name="connsiteY4" fmla="*/ 857233 h 2008230"/>
              <a:gd name="connsiteX5" fmla="*/ 0 w 2563115"/>
              <a:gd name="connsiteY5" fmla="*/ 836577 h 2008230"/>
              <a:gd name="connsiteX0" fmla="*/ 0 w 2707126"/>
              <a:gd name="connsiteY0" fmla="*/ 836577 h 2008230"/>
              <a:gd name="connsiteX1" fmla="*/ 803286 w 2707126"/>
              <a:gd name="connsiteY1" fmla="*/ 0 h 2008230"/>
              <a:gd name="connsiteX2" fmla="*/ 2707126 w 2707126"/>
              <a:gd name="connsiteY2" fmla="*/ 0 h 2008230"/>
              <a:gd name="connsiteX3" fmla="*/ 2563115 w 2707126"/>
              <a:gd name="connsiteY3" fmla="*/ 2000241 h 2008230"/>
              <a:gd name="connsiteX4" fmla="*/ 1921914 w 2707126"/>
              <a:gd name="connsiteY4" fmla="*/ 857233 h 2008230"/>
              <a:gd name="connsiteX5" fmla="*/ 0 w 2707126"/>
              <a:gd name="connsiteY5" fmla="*/ 836577 h 2008230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1921914 w 2707126"/>
              <a:gd name="connsiteY4" fmla="*/ 857233 h 2008229"/>
              <a:gd name="connsiteX5" fmla="*/ 0 w 2707126"/>
              <a:gd name="connsiteY5" fmla="*/ 836577 h 2008229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2279711 w 2707126"/>
              <a:gd name="connsiteY4" fmla="*/ 857233 h 2008229"/>
              <a:gd name="connsiteX5" fmla="*/ 0 w 2707126"/>
              <a:gd name="connsiteY5" fmla="*/ 836577 h 2008229"/>
              <a:gd name="connsiteX0" fmla="*/ 0 w 2350922"/>
              <a:gd name="connsiteY0" fmla="*/ 785795 h 2008229"/>
              <a:gd name="connsiteX1" fmla="*/ 447082 w 2350922"/>
              <a:gd name="connsiteY1" fmla="*/ 0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284964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564645"/>
              <a:gd name="connsiteY0" fmla="*/ 785795 h 2008229"/>
              <a:gd name="connsiteX1" fmla="*/ 498687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564645"/>
              <a:gd name="connsiteY0" fmla="*/ 785795 h 2008229"/>
              <a:gd name="connsiteX1" fmla="*/ 641169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350922"/>
              <a:gd name="connsiteY0" fmla="*/ 785795 h 2008229"/>
              <a:gd name="connsiteX1" fmla="*/ 427446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569928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498687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422163"/>
              <a:gd name="connsiteY0" fmla="*/ 785795 h 2008229"/>
              <a:gd name="connsiteX1" fmla="*/ 569928 w 2422163"/>
              <a:gd name="connsiteY1" fmla="*/ 1 h 2008229"/>
              <a:gd name="connsiteX2" fmla="*/ 2422163 w 2422163"/>
              <a:gd name="connsiteY2" fmla="*/ 0 h 2008229"/>
              <a:gd name="connsiteX3" fmla="*/ 2422162 w 2422163"/>
              <a:gd name="connsiteY3" fmla="*/ 2000240 h 2008229"/>
              <a:gd name="connsiteX4" fmla="*/ 1994748 w 2422163"/>
              <a:gd name="connsiteY4" fmla="*/ 857233 h 2008229"/>
              <a:gd name="connsiteX5" fmla="*/ 0 w 2422163"/>
              <a:gd name="connsiteY5" fmla="*/ 785795 h 200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2163" h="2008229">
                <a:moveTo>
                  <a:pt x="0" y="785795"/>
                </a:moveTo>
                <a:cubicBezTo>
                  <a:pt x="44345" y="235086"/>
                  <a:pt x="468176" y="638367"/>
                  <a:pt x="569928" y="1"/>
                </a:cubicBezTo>
                <a:lnTo>
                  <a:pt x="2422163" y="0"/>
                </a:lnTo>
                <a:cubicBezTo>
                  <a:pt x="2422163" y="666747"/>
                  <a:pt x="2422162" y="1333493"/>
                  <a:pt x="2422162" y="2000240"/>
                </a:cubicBezTo>
                <a:cubicBezTo>
                  <a:pt x="1479111" y="2008229"/>
                  <a:pt x="2215432" y="1239814"/>
                  <a:pt x="1994748" y="857233"/>
                </a:cubicBezTo>
                <a:lnTo>
                  <a:pt x="0" y="78579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6" name="Rectangle 21"/>
          <p:cNvSpPr>
            <a:spLocks noChangeArrowheads="1"/>
          </p:cNvSpPr>
          <p:nvPr userDrawn="1"/>
        </p:nvSpPr>
        <p:spPr bwMode="auto">
          <a:xfrm>
            <a:off x="0" y="6489700"/>
            <a:ext cx="9144000" cy="368300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 dirty="0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auto">
          <a:xfrm>
            <a:off x="0" y="6489700"/>
            <a:ext cx="9134475" cy="0"/>
          </a:xfrm>
          <a:prstGeom prst="line">
            <a:avLst/>
          </a:prstGeom>
          <a:noFill/>
          <a:ln w="28575">
            <a:solidFill>
              <a:srgbClr val="4E73B0"/>
            </a:solidFill>
            <a:round/>
            <a:headEnd/>
            <a:tailEnd/>
          </a:ln>
          <a:effectLst>
            <a:outerShdw dist="28398" dir="3806097" algn="ctr" rotWithShape="0">
              <a:srgbClr val="EAEAEA"/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Picture 32" descr="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8450" y="6500813"/>
            <a:ext cx="1143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모서리가 둥근 직사각형 8"/>
          <p:cNvSpPr/>
          <p:nvPr userDrawn="1"/>
        </p:nvSpPr>
        <p:spPr bwMode="auto">
          <a:xfrm>
            <a:off x="227013" y="785813"/>
            <a:ext cx="8689975" cy="5513387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0" name="모서리가 둥근 직사각형 9"/>
          <p:cNvSpPr/>
          <p:nvPr userDrawn="1"/>
        </p:nvSpPr>
        <p:spPr bwMode="auto">
          <a:xfrm>
            <a:off x="227013" y="773113"/>
            <a:ext cx="8689975" cy="5538787"/>
          </a:xfrm>
          <a:prstGeom prst="roundRect">
            <a:avLst>
              <a:gd name="adj" fmla="val 1626"/>
            </a:avLst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98438" y="6551613"/>
            <a:ext cx="31670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10" dirty="0">
                <a:ln w="9525">
                  <a:noFill/>
                  <a:round/>
                  <a:headEnd/>
                  <a:tailEnd/>
                </a:ln>
                <a:solidFill>
                  <a:srgbClr val="37527D"/>
                </a:solidFill>
                <a:latin typeface="HY견고딕" pitchFamily="18" charset="-127"/>
                <a:ea typeface="HY견고딕" pitchFamily="18" charset="-127"/>
              </a:rPr>
              <a:t>Dissemination of KVER Program to Thailand</a:t>
            </a:r>
            <a:endParaRPr lang="ko-KR" altLang="en-US" sz="1000" kern="10" dirty="0">
              <a:ln w="9525">
                <a:noFill/>
                <a:round/>
                <a:headEnd/>
                <a:tailEnd/>
              </a:ln>
              <a:solidFill>
                <a:srgbClr val="3752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0450" y="238125"/>
            <a:ext cx="15541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63500"/>
            <a:ext cx="7345363" cy="650856"/>
          </a:xfrm>
        </p:spPr>
        <p:txBody>
          <a:bodyPr rtlCol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0" kern="1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505200" y="6572250"/>
            <a:ext cx="2133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1" hangingPunct="1">
              <a:defRPr lang="en-US" altLang="ko-KR" sz="1000" b="1" kern="1200">
                <a:solidFill>
                  <a:srgbClr val="4E73B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C2E2B62-85F2-4F0C-8B65-B78EBD99C670}" type="slidenum">
              <a:rPr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 userDrawn="1"/>
        </p:nvSpPr>
        <p:spPr bwMode="auto">
          <a:xfrm>
            <a:off x="1588" y="0"/>
            <a:ext cx="9140825" cy="68564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4" name="Rectangle 27"/>
          <p:cNvSpPr>
            <a:spLocks noChangeArrowheads="1"/>
          </p:cNvSpPr>
          <p:nvPr userDrawn="1"/>
        </p:nvSpPr>
        <p:spPr bwMode="auto">
          <a:xfrm>
            <a:off x="0" y="0"/>
            <a:ext cx="9110663" cy="1420813"/>
          </a:xfrm>
          <a:prstGeom prst="rect">
            <a:avLst/>
          </a:prstGeom>
          <a:gradFill flip="none" rotWithShape="1">
            <a:gsLst>
              <a:gs pos="0">
                <a:srgbClr val="3F5D8D">
                  <a:shade val="30000"/>
                  <a:satMod val="115000"/>
                </a:srgbClr>
              </a:gs>
              <a:gs pos="0">
                <a:srgbClr val="3F5D8D">
                  <a:shade val="30000"/>
                  <a:satMod val="115000"/>
                </a:srgbClr>
              </a:gs>
              <a:gs pos="50000">
                <a:srgbClr val="3F5D8D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 userDrawn="1"/>
        </p:nvSpPr>
        <p:spPr bwMode="auto">
          <a:xfrm>
            <a:off x="6588125" y="0"/>
            <a:ext cx="2555875" cy="2008188"/>
          </a:xfrm>
          <a:custGeom>
            <a:avLst/>
            <a:gdLst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2562225 w 3149600"/>
              <a:gd name="connsiteY4" fmla="*/ 882650 h 914400"/>
              <a:gd name="connsiteX5" fmla="*/ 0 w 3149600"/>
              <a:gd name="connsiteY5" fmla="*/ 914400 h 914400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136900 w 3224277"/>
              <a:gd name="connsiteY2" fmla="*/ 0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086100 w 3224277"/>
              <a:gd name="connsiteY2" fmla="*/ 25399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086100"/>
              <a:gd name="connsiteY0" fmla="*/ 914400 h 2038381"/>
              <a:gd name="connsiteX1" fmla="*/ 1104900 w 3086100"/>
              <a:gd name="connsiteY1" fmla="*/ 0 h 2038381"/>
              <a:gd name="connsiteX2" fmla="*/ 3086100 w 3086100"/>
              <a:gd name="connsiteY2" fmla="*/ 25399 h 2038381"/>
              <a:gd name="connsiteX3" fmla="*/ 3086100 w 3086100"/>
              <a:gd name="connsiteY3" fmla="*/ 2030392 h 2038381"/>
              <a:gd name="connsiteX4" fmla="*/ 2562225 w 3086100"/>
              <a:gd name="connsiteY4" fmla="*/ 882650 h 2038381"/>
              <a:gd name="connsiteX5" fmla="*/ 0 w 3086100"/>
              <a:gd name="connsiteY5" fmla="*/ 914400 h 2038381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968346 w 3086100"/>
              <a:gd name="connsiteY1" fmla="*/ 0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2738475"/>
              <a:gd name="connsiteY0" fmla="*/ 873090 h 2012982"/>
              <a:gd name="connsiteX1" fmla="*/ 620721 w 2738475"/>
              <a:gd name="connsiteY1" fmla="*/ 0 h 2012982"/>
              <a:gd name="connsiteX2" fmla="*/ 2738475 w 2738475"/>
              <a:gd name="connsiteY2" fmla="*/ 0 h 2012982"/>
              <a:gd name="connsiteX3" fmla="*/ 2738475 w 2738475"/>
              <a:gd name="connsiteY3" fmla="*/ 2004993 h 2012982"/>
              <a:gd name="connsiteX4" fmla="*/ 2214600 w 2738475"/>
              <a:gd name="connsiteY4" fmla="*/ 857251 h 2012982"/>
              <a:gd name="connsiteX5" fmla="*/ 0 w 2738475"/>
              <a:gd name="connsiteY5" fmla="*/ 873090 h 2012982"/>
              <a:gd name="connsiteX0" fmla="*/ 0 w 2848014"/>
              <a:gd name="connsiteY0" fmla="*/ 836577 h 2012982"/>
              <a:gd name="connsiteX1" fmla="*/ 730260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278119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544823"/>
              <a:gd name="connsiteY0" fmla="*/ 836577 h 2008229"/>
              <a:gd name="connsiteX1" fmla="*/ 803286 w 2544823"/>
              <a:gd name="connsiteY1" fmla="*/ 0 h 2008229"/>
              <a:gd name="connsiteX2" fmla="*/ 2278119 w 2544823"/>
              <a:gd name="connsiteY2" fmla="*/ 0 h 2008229"/>
              <a:gd name="connsiteX3" fmla="*/ 2349360 w 2544823"/>
              <a:gd name="connsiteY3" fmla="*/ 2000240 h 2008229"/>
              <a:gd name="connsiteX4" fmla="*/ 2324139 w 2544823"/>
              <a:gd name="connsiteY4" fmla="*/ 857251 h 2008229"/>
              <a:gd name="connsiteX5" fmla="*/ 0 w 2544823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3 w 2349360"/>
              <a:gd name="connsiteY4" fmla="*/ 928671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349360 w 2349360"/>
              <a:gd name="connsiteY2" fmla="*/ 1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563115"/>
              <a:gd name="connsiteY0" fmla="*/ 836577 h 2008229"/>
              <a:gd name="connsiteX1" fmla="*/ 803286 w 2563115"/>
              <a:gd name="connsiteY1" fmla="*/ 0 h 2008229"/>
              <a:gd name="connsiteX2" fmla="*/ 2563115 w 2563115"/>
              <a:gd name="connsiteY2" fmla="*/ 1 h 2008229"/>
              <a:gd name="connsiteX3" fmla="*/ 2349360 w 2563115"/>
              <a:gd name="connsiteY3" fmla="*/ 2000240 h 2008229"/>
              <a:gd name="connsiteX4" fmla="*/ 1921914 w 2563115"/>
              <a:gd name="connsiteY4" fmla="*/ 857233 h 2008229"/>
              <a:gd name="connsiteX5" fmla="*/ 0 w 2563115"/>
              <a:gd name="connsiteY5" fmla="*/ 836577 h 2008229"/>
              <a:gd name="connsiteX0" fmla="*/ 0 w 2563115"/>
              <a:gd name="connsiteY0" fmla="*/ 836577 h 2008230"/>
              <a:gd name="connsiteX1" fmla="*/ 803286 w 2563115"/>
              <a:gd name="connsiteY1" fmla="*/ 0 h 2008230"/>
              <a:gd name="connsiteX2" fmla="*/ 2563115 w 2563115"/>
              <a:gd name="connsiteY2" fmla="*/ 1 h 2008230"/>
              <a:gd name="connsiteX3" fmla="*/ 2563115 w 2563115"/>
              <a:gd name="connsiteY3" fmla="*/ 2000241 h 2008230"/>
              <a:gd name="connsiteX4" fmla="*/ 1921914 w 2563115"/>
              <a:gd name="connsiteY4" fmla="*/ 857233 h 2008230"/>
              <a:gd name="connsiteX5" fmla="*/ 0 w 2563115"/>
              <a:gd name="connsiteY5" fmla="*/ 836577 h 2008230"/>
              <a:gd name="connsiteX0" fmla="*/ 0 w 2707126"/>
              <a:gd name="connsiteY0" fmla="*/ 836577 h 2008230"/>
              <a:gd name="connsiteX1" fmla="*/ 803286 w 2707126"/>
              <a:gd name="connsiteY1" fmla="*/ 0 h 2008230"/>
              <a:gd name="connsiteX2" fmla="*/ 2707126 w 2707126"/>
              <a:gd name="connsiteY2" fmla="*/ 0 h 2008230"/>
              <a:gd name="connsiteX3" fmla="*/ 2563115 w 2707126"/>
              <a:gd name="connsiteY3" fmla="*/ 2000241 h 2008230"/>
              <a:gd name="connsiteX4" fmla="*/ 1921914 w 2707126"/>
              <a:gd name="connsiteY4" fmla="*/ 857233 h 2008230"/>
              <a:gd name="connsiteX5" fmla="*/ 0 w 2707126"/>
              <a:gd name="connsiteY5" fmla="*/ 836577 h 2008230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1921914 w 2707126"/>
              <a:gd name="connsiteY4" fmla="*/ 857233 h 2008229"/>
              <a:gd name="connsiteX5" fmla="*/ 0 w 2707126"/>
              <a:gd name="connsiteY5" fmla="*/ 836577 h 2008229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2279711 w 2707126"/>
              <a:gd name="connsiteY4" fmla="*/ 857233 h 2008229"/>
              <a:gd name="connsiteX5" fmla="*/ 0 w 2707126"/>
              <a:gd name="connsiteY5" fmla="*/ 836577 h 2008229"/>
              <a:gd name="connsiteX0" fmla="*/ 0 w 2350922"/>
              <a:gd name="connsiteY0" fmla="*/ 785795 h 2008229"/>
              <a:gd name="connsiteX1" fmla="*/ 447082 w 2350922"/>
              <a:gd name="connsiteY1" fmla="*/ 0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284964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564645"/>
              <a:gd name="connsiteY0" fmla="*/ 785795 h 2008229"/>
              <a:gd name="connsiteX1" fmla="*/ 498687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564645"/>
              <a:gd name="connsiteY0" fmla="*/ 785795 h 2008229"/>
              <a:gd name="connsiteX1" fmla="*/ 641169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350922"/>
              <a:gd name="connsiteY0" fmla="*/ 785795 h 2008229"/>
              <a:gd name="connsiteX1" fmla="*/ 427446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569928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498687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422163"/>
              <a:gd name="connsiteY0" fmla="*/ 785795 h 2008229"/>
              <a:gd name="connsiteX1" fmla="*/ 569928 w 2422163"/>
              <a:gd name="connsiteY1" fmla="*/ 1 h 2008229"/>
              <a:gd name="connsiteX2" fmla="*/ 2422163 w 2422163"/>
              <a:gd name="connsiteY2" fmla="*/ 0 h 2008229"/>
              <a:gd name="connsiteX3" fmla="*/ 2422162 w 2422163"/>
              <a:gd name="connsiteY3" fmla="*/ 2000240 h 2008229"/>
              <a:gd name="connsiteX4" fmla="*/ 1994748 w 2422163"/>
              <a:gd name="connsiteY4" fmla="*/ 857233 h 2008229"/>
              <a:gd name="connsiteX5" fmla="*/ 0 w 2422163"/>
              <a:gd name="connsiteY5" fmla="*/ 785795 h 200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2163" h="2008229">
                <a:moveTo>
                  <a:pt x="0" y="785795"/>
                </a:moveTo>
                <a:cubicBezTo>
                  <a:pt x="44345" y="235086"/>
                  <a:pt x="468176" y="638367"/>
                  <a:pt x="569928" y="1"/>
                </a:cubicBezTo>
                <a:lnTo>
                  <a:pt x="2422163" y="0"/>
                </a:lnTo>
                <a:cubicBezTo>
                  <a:pt x="2422163" y="666747"/>
                  <a:pt x="2422162" y="1333493"/>
                  <a:pt x="2422162" y="2000240"/>
                </a:cubicBezTo>
                <a:cubicBezTo>
                  <a:pt x="1479111" y="2008229"/>
                  <a:pt x="2215432" y="1239814"/>
                  <a:pt x="1994748" y="857233"/>
                </a:cubicBezTo>
                <a:lnTo>
                  <a:pt x="0" y="78579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6" name="Rectangle 21"/>
          <p:cNvSpPr>
            <a:spLocks noChangeArrowheads="1"/>
          </p:cNvSpPr>
          <p:nvPr userDrawn="1"/>
        </p:nvSpPr>
        <p:spPr bwMode="auto">
          <a:xfrm>
            <a:off x="0" y="6489700"/>
            <a:ext cx="9144000" cy="368300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 dirty="0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auto">
          <a:xfrm>
            <a:off x="0" y="6489700"/>
            <a:ext cx="9134475" cy="0"/>
          </a:xfrm>
          <a:prstGeom prst="line">
            <a:avLst/>
          </a:prstGeom>
          <a:noFill/>
          <a:ln w="28575">
            <a:solidFill>
              <a:srgbClr val="4E73B0"/>
            </a:solidFill>
            <a:round/>
            <a:headEnd/>
            <a:tailEnd/>
          </a:ln>
          <a:effectLst>
            <a:outerShdw dist="28398" dir="3806097" algn="ctr" rotWithShape="0">
              <a:srgbClr val="EAEAEA"/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Picture 32" descr="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8450" y="6500813"/>
            <a:ext cx="1143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모서리가 둥근 직사각형 8"/>
          <p:cNvSpPr/>
          <p:nvPr userDrawn="1"/>
        </p:nvSpPr>
        <p:spPr bwMode="auto">
          <a:xfrm>
            <a:off x="227013" y="785813"/>
            <a:ext cx="8689975" cy="5513387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0" name="모서리가 둥근 직사각형 9"/>
          <p:cNvSpPr/>
          <p:nvPr userDrawn="1"/>
        </p:nvSpPr>
        <p:spPr bwMode="auto">
          <a:xfrm>
            <a:off x="227013" y="773113"/>
            <a:ext cx="8689975" cy="5538787"/>
          </a:xfrm>
          <a:prstGeom prst="roundRect">
            <a:avLst>
              <a:gd name="adj" fmla="val 1626"/>
            </a:avLst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98438" y="6551613"/>
            <a:ext cx="31670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10" dirty="0">
                <a:ln w="9525">
                  <a:noFill/>
                  <a:round/>
                  <a:headEnd/>
                  <a:tailEnd/>
                </a:ln>
                <a:solidFill>
                  <a:srgbClr val="37527D"/>
                </a:solidFill>
                <a:latin typeface="HY견고딕" pitchFamily="18" charset="-127"/>
                <a:ea typeface="HY견고딕" pitchFamily="18" charset="-127"/>
              </a:rPr>
              <a:t>Dissemination of KVER Program to Thailand</a:t>
            </a:r>
            <a:endParaRPr lang="ko-KR" altLang="en-US" sz="1000" kern="10" dirty="0">
              <a:ln w="9525">
                <a:noFill/>
                <a:round/>
                <a:headEnd/>
                <a:tailEnd/>
              </a:ln>
              <a:solidFill>
                <a:srgbClr val="3752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0450" y="238125"/>
            <a:ext cx="15541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63500"/>
            <a:ext cx="7345363" cy="650856"/>
          </a:xfrm>
        </p:spPr>
        <p:txBody>
          <a:bodyPr rtlCol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0" kern="1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505200" y="6572250"/>
            <a:ext cx="2133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1" hangingPunct="1">
              <a:defRPr lang="en-US" altLang="ko-KR" sz="1000" b="1" kern="1200">
                <a:solidFill>
                  <a:srgbClr val="4E73B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0060B13-634F-4F6F-AA97-2690541C076F}" type="slidenum">
              <a:rPr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 userDrawn="1"/>
        </p:nvSpPr>
        <p:spPr bwMode="auto">
          <a:xfrm>
            <a:off x="1588" y="0"/>
            <a:ext cx="9140825" cy="68564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4" name="Rectangle 27"/>
          <p:cNvSpPr>
            <a:spLocks noChangeArrowheads="1"/>
          </p:cNvSpPr>
          <p:nvPr userDrawn="1"/>
        </p:nvSpPr>
        <p:spPr bwMode="auto">
          <a:xfrm>
            <a:off x="0" y="0"/>
            <a:ext cx="9110663" cy="1420813"/>
          </a:xfrm>
          <a:prstGeom prst="rect">
            <a:avLst/>
          </a:prstGeom>
          <a:gradFill flip="none" rotWithShape="1">
            <a:gsLst>
              <a:gs pos="0">
                <a:srgbClr val="3F5D8D">
                  <a:shade val="30000"/>
                  <a:satMod val="115000"/>
                </a:srgbClr>
              </a:gs>
              <a:gs pos="0">
                <a:srgbClr val="3F5D8D">
                  <a:shade val="30000"/>
                  <a:satMod val="115000"/>
                </a:srgbClr>
              </a:gs>
              <a:gs pos="50000">
                <a:srgbClr val="3F5D8D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 userDrawn="1"/>
        </p:nvSpPr>
        <p:spPr bwMode="auto">
          <a:xfrm>
            <a:off x="6588125" y="0"/>
            <a:ext cx="2555875" cy="2008188"/>
          </a:xfrm>
          <a:custGeom>
            <a:avLst/>
            <a:gdLst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2562225 w 3149600"/>
              <a:gd name="connsiteY4" fmla="*/ 882650 h 914400"/>
              <a:gd name="connsiteX5" fmla="*/ 0 w 3149600"/>
              <a:gd name="connsiteY5" fmla="*/ 914400 h 914400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136900 w 3224277"/>
              <a:gd name="connsiteY2" fmla="*/ 0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086100 w 3224277"/>
              <a:gd name="connsiteY2" fmla="*/ 25399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086100"/>
              <a:gd name="connsiteY0" fmla="*/ 914400 h 2038381"/>
              <a:gd name="connsiteX1" fmla="*/ 1104900 w 3086100"/>
              <a:gd name="connsiteY1" fmla="*/ 0 h 2038381"/>
              <a:gd name="connsiteX2" fmla="*/ 3086100 w 3086100"/>
              <a:gd name="connsiteY2" fmla="*/ 25399 h 2038381"/>
              <a:gd name="connsiteX3" fmla="*/ 3086100 w 3086100"/>
              <a:gd name="connsiteY3" fmla="*/ 2030392 h 2038381"/>
              <a:gd name="connsiteX4" fmla="*/ 2562225 w 3086100"/>
              <a:gd name="connsiteY4" fmla="*/ 882650 h 2038381"/>
              <a:gd name="connsiteX5" fmla="*/ 0 w 3086100"/>
              <a:gd name="connsiteY5" fmla="*/ 914400 h 2038381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968346 w 3086100"/>
              <a:gd name="connsiteY1" fmla="*/ 0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2738475"/>
              <a:gd name="connsiteY0" fmla="*/ 873090 h 2012982"/>
              <a:gd name="connsiteX1" fmla="*/ 620721 w 2738475"/>
              <a:gd name="connsiteY1" fmla="*/ 0 h 2012982"/>
              <a:gd name="connsiteX2" fmla="*/ 2738475 w 2738475"/>
              <a:gd name="connsiteY2" fmla="*/ 0 h 2012982"/>
              <a:gd name="connsiteX3" fmla="*/ 2738475 w 2738475"/>
              <a:gd name="connsiteY3" fmla="*/ 2004993 h 2012982"/>
              <a:gd name="connsiteX4" fmla="*/ 2214600 w 2738475"/>
              <a:gd name="connsiteY4" fmla="*/ 857251 h 2012982"/>
              <a:gd name="connsiteX5" fmla="*/ 0 w 2738475"/>
              <a:gd name="connsiteY5" fmla="*/ 873090 h 2012982"/>
              <a:gd name="connsiteX0" fmla="*/ 0 w 2848014"/>
              <a:gd name="connsiteY0" fmla="*/ 836577 h 2012982"/>
              <a:gd name="connsiteX1" fmla="*/ 730260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278119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544823"/>
              <a:gd name="connsiteY0" fmla="*/ 836577 h 2008229"/>
              <a:gd name="connsiteX1" fmla="*/ 803286 w 2544823"/>
              <a:gd name="connsiteY1" fmla="*/ 0 h 2008229"/>
              <a:gd name="connsiteX2" fmla="*/ 2278119 w 2544823"/>
              <a:gd name="connsiteY2" fmla="*/ 0 h 2008229"/>
              <a:gd name="connsiteX3" fmla="*/ 2349360 w 2544823"/>
              <a:gd name="connsiteY3" fmla="*/ 2000240 h 2008229"/>
              <a:gd name="connsiteX4" fmla="*/ 2324139 w 2544823"/>
              <a:gd name="connsiteY4" fmla="*/ 857251 h 2008229"/>
              <a:gd name="connsiteX5" fmla="*/ 0 w 2544823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3 w 2349360"/>
              <a:gd name="connsiteY4" fmla="*/ 928671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349360 w 2349360"/>
              <a:gd name="connsiteY2" fmla="*/ 1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563115"/>
              <a:gd name="connsiteY0" fmla="*/ 836577 h 2008229"/>
              <a:gd name="connsiteX1" fmla="*/ 803286 w 2563115"/>
              <a:gd name="connsiteY1" fmla="*/ 0 h 2008229"/>
              <a:gd name="connsiteX2" fmla="*/ 2563115 w 2563115"/>
              <a:gd name="connsiteY2" fmla="*/ 1 h 2008229"/>
              <a:gd name="connsiteX3" fmla="*/ 2349360 w 2563115"/>
              <a:gd name="connsiteY3" fmla="*/ 2000240 h 2008229"/>
              <a:gd name="connsiteX4" fmla="*/ 1921914 w 2563115"/>
              <a:gd name="connsiteY4" fmla="*/ 857233 h 2008229"/>
              <a:gd name="connsiteX5" fmla="*/ 0 w 2563115"/>
              <a:gd name="connsiteY5" fmla="*/ 836577 h 2008229"/>
              <a:gd name="connsiteX0" fmla="*/ 0 w 2563115"/>
              <a:gd name="connsiteY0" fmla="*/ 836577 h 2008230"/>
              <a:gd name="connsiteX1" fmla="*/ 803286 w 2563115"/>
              <a:gd name="connsiteY1" fmla="*/ 0 h 2008230"/>
              <a:gd name="connsiteX2" fmla="*/ 2563115 w 2563115"/>
              <a:gd name="connsiteY2" fmla="*/ 1 h 2008230"/>
              <a:gd name="connsiteX3" fmla="*/ 2563115 w 2563115"/>
              <a:gd name="connsiteY3" fmla="*/ 2000241 h 2008230"/>
              <a:gd name="connsiteX4" fmla="*/ 1921914 w 2563115"/>
              <a:gd name="connsiteY4" fmla="*/ 857233 h 2008230"/>
              <a:gd name="connsiteX5" fmla="*/ 0 w 2563115"/>
              <a:gd name="connsiteY5" fmla="*/ 836577 h 2008230"/>
              <a:gd name="connsiteX0" fmla="*/ 0 w 2707126"/>
              <a:gd name="connsiteY0" fmla="*/ 836577 h 2008230"/>
              <a:gd name="connsiteX1" fmla="*/ 803286 w 2707126"/>
              <a:gd name="connsiteY1" fmla="*/ 0 h 2008230"/>
              <a:gd name="connsiteX2" fmla="*/ 2707126 w 2707126"/>
              <a:gd name="connsiteY2" fmla="*/ 0 h 2008230"/>
              <a:gd name="connsiteX3" fmla="*/ 2563115 w 2707126"/>
              <a:gd name="connsiteY3" fmla="*/ 2000241 h 2008230"/>
              <a:gd name="connsiteX4" fmla="*/ 1921914 w 2707126"/>
              <a:gd name="connsiteY4" fmla="*/ 857233 h 2008230"/>
              <a:gd name="connsiteX5" fmla="*/ 0 w 2707126"/>
              <a:gd name="connsiteY5" fmla="*/ 836577 h 2008230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1921914 w 2707126"/>
              <a:gd name="connsiteY4" fmla="*/ 857233 h 2008229"/>
              <a:gd name="connsiteX5" fmla="*/ 0 w 2707126"/>
              <a:gd name="connsiteY5" fmla="*/ 836577 h 2008229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2279711 w 2707126"/>
              <a:gd name="connsiteY4" fmla="*/ 857233 h 2008229"/>
              <a:gd name="connsiteX5" fmla="*/ 0 w 2707126"/>
              <a:gd name="connsiteY5" fmla="*/ 836577 h 2008229"/>
              <a:gd name="connsiteX0" fmla="*/ 0 w 2350922"/>
              <a:gd name="connsiteY0" fmla="*/ 785795 h 2008229"/>
              <a:gd name="connsiteX1" fmla="*/ 447082 w 2350922"/>
              <a:gd name="connsiteY1" fmla="*/ 0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284964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564645"/>
              <a:gd name="connsiteY0" fmla="*/ 785795 h 2008229"/>
              <a:gd name="connsiteX1" fmla="*/ 498687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564645"/>
              <a:gd name="connsiteY0" fmla="*/ 785795 h 2008229"/>
              <a:gd name="connsiteX1" fmla="*/ 641169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350922"/>
              <a:gd name="connsiteY0" fmla="*/ 785795 h 2008229"/>
              <a:gd name="connsiteX1" fmla="*/ 427446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569928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498687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422163"/>
              <a:gd name="connsiteY0" fmla="*/ 785795 h 2008229"/>
              <a:gd name="connsiteX1" fmla="*/ 569928 w 2422163"/>
              <a:gd name="connsiteY1" fmla="*/ 1 h 2008229"/>
              <a:gd name="connsiteX2" fmla="*/ 2422163 w 2422163"/>
              <a:gd name="connsiteY2" fmla="*/ 0 h 2008229"/>
              <a:gd name="connsiteX3" fmla="*/ 2422162 w 2422163"/>
              <a:gd name="connsiteY3" fmla="*/ 2000240 h 2008229"/>
              <a:gd name="connsiteX4" fmla="*/ 1994748 w 2422163"/>
              <a:gd name="connsiteY4" fmla="*/ 857233 h 2008229"/>
              <a:gd name="connsiteX5" fmla="*/ 0 w 2422163"/>
              <a:gd name="connsiteY5" fmla="*/ 785795 h 200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2163" h="2008229">
                <a:moveTo>
                  <a:pt x="0" y="785795"/>
                </a:moveTo>
                <a:cubicBezTo>
                  <a:pt x="44345" y="235086"/>
                  <a:pt x="468176" y="638367"/>
                  <a:pt x="569928" y="1"/>
                </a:cubicBezTo>
                <a:lnTo>
                  <a:pt x="2422163" y="0"/>
                </a:lnTo>
                <a:cubicBezTo>
                  <a:pt x="2422163" y="666747"/>
                  <a:pt x="2422162" y="1333493"/>
                  <a:pt x="2422162" y="2000240"/>
                </a:cubicBezTo>
                <a:cubicBezTo>
                  <a:pt x="1479111" y="2008229"/>
                  <a:pt x="2215432" y="1239814"/>
                  <a:pt x="1994748" y="857233"/>
                </a:cubicBezTo>
                <a:lnTo>
                  <a:pt x="0" y="78579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6" name="Rectangle 21"/>
          <p:cNvSpPr>
            <a:spLocks noChangeArrowheads="1"/>
          </p:cNvSpPr>
          <p:nvPr userDrawn="1"/>
        </p:nvSpPr>
        <p:spPr bwMode="auto">
          <a:xfrm>
            <a:off x="0" y="6489700"/>
            <a:ext cx="9144000" cy="368300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 dirty="0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auto">
          <a:xfrm>
            <a:off x="0" y="6489700"/>
            <a:ext cx="9134475" cy="0"/>
          </a:xfrm>
          <a:prstGeom prst="line">
            <a:avLst/>
          </a:prstGeom>
          <a:noFill/>
          <a:ln w="28575">
            <a:solidFill>
              <a:srgbClr val="4E73B0"/>
            </a:solidFill>
            <a:round/>
            <a:headEnd/>
            <a:tailEnd/>
          </a:ln>
          <a:effectLst>
            <a:outerShdw dist="28398" dir="3806097" algn="ctr" rotWithShape="0">
              <a:srgbClr val="EAEAEA"/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Picture 32" descr="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8450" y="6500813"/>
            <a:ext cx="1143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모서리가 둥근 직사각형 8"/>
          <p:cNvSpPr/>
          <p:nvPr userDrawn="1"/>
        </p:nvSpPr>
        <p:spPr bwMode="auto">
          <a:xfrm>
            <a:off x="227013" y="785813"/>
            <a:ext cx="8689975" cy="5513387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0" name="모서리가 둥근 직사각형 9"/>
          <p:cNvSpPr/>
          <p:nvPr userDrawn="1"/>
        </p:nvSpPr>
        <p:spPr bwMode="auto">
          <a:xfrm>
            <a:off x="227013" y="773113"/>
            <a:ext cx="8689975" cy="5538787"/>
          </a:xfrm>
          <a:prstGeom prst="roundRect">
            <a:avLst>
              <a:gd name="adj" fmla="val 1626"/>
            </a:avLst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98438" y="6551613"/>
            <a:ext cx="31670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10" dirty="0">
                <a:ln w="9525">
                  <a:noFill/>
                  <a:round/>
                  <a:headEnd/>
                  <a:tailEnd/>
                </a:ln>
                <a:solidFill>
                  <a:srgbClr val="37527D"/>
                </a:solidFill>
                <a:latin typeface="HY견고딕" pitchFamily="18" charset="-127"/>
                <a:ea typeface="HY견고딕" pitchFamily="18" charset="-127"/>
              </a:rPr>
              <a:t>Dissemination of KVER Program to Thailand</a:t>
            </a:r>
            <a:endParaRPr lang="ko-KR" altLang="en-US" sz="1000" kern="10" dirty="0">
              <a:ln w="9525">
                <a:noFill/>
                <a:round/>
                <a:headEnd/>
                <a:tailEnd/>
              </a:ln>
              <a:solidFill>
                <a:srgbClr val="3752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0450" y="238125"/>
            <a:ext cx="15541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63500"/>
            <a:ext cx="7345363" cy="650856"/>
          </a:xfrm>
        </p:spPr>
        <p:txBody>
          <a:bodyPr rtlCol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0" kern="1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505200" y="6572250"/>
            <a:ext cx="2133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1" hangingPunct="1">
              <a:defRPr lang="en-US" altLang="ko-KR" sz="1000" b="1" kern="1200">
                <a:solidFill>
                  <a:srgbClr val="4E73B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EA0DF9-BE15-4192-B26C-8C62C442CA9E}" type="slidenum">
              <a:rPr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5"/>
          <p:cNvSpPr>
            <a:spLocks noChangeArrowheads="1"/>
          </p:cNvSpPr>
          <p:nvPr userDrawn="1"/>
        </p:nvSpPr>
        <p:spPr bwMode="auto">
          <a:xfrm>
            <a:off x="1588" y="0"/>
            <a:ext cx="9140825" cy="685641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4" name="Rectangle 27"/>
          <p:cNvSpPr>
            <a:spLocks noChangeArrowheads="1"/>
          </p:cNvSpPr>
          <p:nvPr userDrawn="1"/>
        </p:nvSpPr>
        <p:spPr bwMode="auto">
          <a:xfrm>
            <a:off x="0" y="0"/>
            <a:ext cx="9110663" cy="1420813"/>
          </a:xfrm>
          <a:prstGeom prst="rect">
            <a:avLst/>
          </a:prstGeom>
          <a:gradFill flip="none" rotWithShape="1">
            <a:gsLst>
              <a:gs pos="0">
                <a:srgbClr val="3F5D8D">
                  <a:shade val="30000"/>
                  <a:satMod val="115000"/>
                </a:srgbClr>
              </a:gs>
              <a:gs pos="0">
                <a:srgbClr val="3F5D8D">
                  <a:shade val="30000"/>
                  <a:satMod val="115000"/>
                </a:srgbClr>
              </a:gs>
              <a:gs pos="50000">
                <a:srgbClr val="3F5D8D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 userDrawn="1"/>
        </p:nvSpPr>
        <p:spPr bwMode="auto">
          <a:xfrm>
            <a:off x="6588125" y="0"/>
            <a:ext cx="2555875" cy="2008188"/>
          </a:xfrm>
          <a:custGeom>
            <a:avLst/>
            <a:gdLst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0 w 3149600"/>
              <a:gd name="connsiteY4" fmla="*/ 914400 h 914400"/>
              <a:gd name="connsiteX0" fmla="*/ 0 w 3149600"/>
              <a:gd name="connsiteY0" fmla="*/ 914400 h 914400"/>
              <a:gd name="connsiteX1" fmla="*/ 1104900 w 3149600"/>
              <a:gd name="connsiteY1" fmla="*/ 0 h 914400"/>
              <a:gd name="connsiteX2" fmla="*/ 3136900 w 3149600"/>
              <a:gd name="connsiteY2" fmla="*/ 0 h 914400"/>
              <a:gd name="connsiteX3" fmla="*/ 3149600 w 3149600"/>
              <a:gd name="connsiteY3" fmla="*/ 876300 h 914400"/>
              <a:gd name="connsiteX4" fmla="*/ 2562225 w 3149600"/>
              <a:gd name="connsiteY4" fmla="*/ 882650 h 914400"/>
              <a:gd name="connsiteX5" fmla="*/ 0 w 3149600"/>
              <a:gd name="connsiteY5" fmla="*/ 914400 h 914400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0393"/>
              <a:gd name="connsiteX1" fmla="*/ 1104900 w 3224277"/>
              <a:gd name="connsiteY1" fmla="*/ 0 h 2030393"/>
              <a:gd name="connsiteX2" fmla="*/ 3136900 w 3224277"/>
              <a:gd name="connsiteY2" fmla="*/ 0 h 2030393"/>
              <a:gd name="connsiteX3" fmla="*/ 3224277 w 3224277"/>
              <a:gd name="connsiteY3" fmla="*/ 2030393 h 2030393"/>
              <a:gd name="connsiteX4" fmla="*/ 2562225 w 3224277"/>
              <a:gd name="connsiteY4" fmla="*/ 882650 h 2030393"/>
              <a:gd name="connsiteX5" fmla="*/ 0 w 3224277"/>
              <a:gd name="connsiteY5" fmla="*/ 914400 h 2030393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136900 w 3224277"/>
              <a:gd name="connsiteY2" fmla="*/ 0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224277"/>
              <a:gd name="connsiteY0" fmla="*/ 914400 h 2038382"/>
              <a:gd name="connsiteX1" fmla="*/ 1104900 w 3224277"/>
              <a:gd name="connsiteY1" fmla="*/ 0 h 2038382"/>
              <a:gd name="connsiteX2" fmla="*/ 3086100 w 3224277"/>
              <a:gd name="connsiteY2" fmla="*/ 25399 h 2038382"/>
              <a:gd name="connsiteX3" fmla="*/ 3224277 w 3224277"/>
              <a:gd name="connsiteY3" fmla="*/ 2030393 h 2038382"/>
              <a:gd name="connsiteX4" fmla="*/ 2562225 w 3224277"/>
              <a:gd name="connsiteY4" fmla="*/ 882650 h 2038382"/>
              <a:gd name="connsiteX5" fmla="*/ 0 w 3224277"/>
              <a:gd name="connsiteY5" fmla="*/ 914400 h 2038382"/>
              <a:gd name="connsiteX0" fmla="*/ 0 w 3086100"/>
              <a:gd name="connsiteY0" fmla="*/ 914400 h 2038381"/>
              <a:gd name="connsiteX1" fmla="*/ 1104900 w 3086100"/>
              <a:gd name="connsiteY1" fmla="*/ 0 h 2038381"/>
              <a:gd name="connsiteX2" fmla="*/ 3086100 w 3086100"/>
              <a:gd name="connsiteY2" fmla="*/ 25399 h 2038381"/>
              <a:gd name="connsiteX3" fmla="*/ 3086100 w 3086100"/>
              <a:gd name="connsiteY3" fmla="*/ 2030392 h 2038381"/>
              <a:gd name="connsiteX4" fmla="*/ 2562225 w 3086100"/>
              <a:gd name="connsiteY4" fmla="*/ 882650 h 2038381"/>
              <a:gd name="connsiteX5" fmla="*/ 0 w 3086100"/>
              <a:gd name="connsiteY5" fmla="*/ 914400 h 2038381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1106523 w 3086100"/>
              <a:gd name="connsiteY1" fmla="*/ 1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3086100"/>
              <a:gd name="connsiteY0" fmla="*/ 889001 h 2012982"/>
              <a:gd name="connsiteX1" fmla="*/ 968346 w 3086100"/>
              <a:gd name="connsiteY1" fmla="*/ 0 h 2012982"/>
              <a:gd name="connsiteX2" fmla="*/ 3086100 w 3086100"/>
              <a:gd name="connsiteY2" fmla="*/ 0 h 2012982"/>
              <a:gd name="connsiteX3" fmla="*/ 3086100 w 3086100"/>
              <a:gd name="connsiteY3" fmla="*/ 2004993 h 2012982"/>
              <a:gd name="connsiteX4" fmla="*/ 2562225 w 3086100"/>
              <a:gd name="connsiteY4" fmla="*/ 857251 h 2012982"/>
              <a:gd name="connsiteX5" fmla="*/ 0 w 3086100"/>
              <a:gd name="connsiteY5" fmla="*/ 889001 h 2012982"/>
              <a:gd name="connsiteX0" fmla="*/ 0 w 2738475"/>
              <a:gd name="connsiteY0" fmla="*/ 873090 h 2012982"/>
              <a:gd name="connsiteX1" fmla="*/ 620721 w 2738475"/>
              <a:gd name="connsiteY1" fmla="*/ 0 h 2012982"/>
              <a:gd name="connsiteX2" fmla="*/ 2738475 w 2738475"/>
              <a:gd name="connsiteY2" fmla="*/ 0 h 2012982"/>
              <a:gd name="connsiteX3" fmla="*/ 2738475 w 2738475"/>
              <a:gd name="connsiteY3" fmla="*/ 2004993 h 2012982"/>
              <a:gd name="connsiteX4" fmla="*/ 2214600 w 2738475"/>
              <a:gd name="connsiteY4" fmla="*/ 857251 h 2012982"/>
              <a:gd name="connsiteX5" fmla="*/ 0 w 2738475"/>
              <a:gd name="connsiteY5" fmla="*/ 873090 h 2012982"/>
              <a:gd name="connsiteX0" fmla="*/ 0 w 2848014"/>
              <a:gd name="connsiteY0" fmla="*/ 836577 h 2012982"/>
              <a:gd name="connsiteX1" fmla="*/ 730260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848014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848014"/>
              <a:gd name="connsiteY0" fmla="*/ 836577 h 2012982"/>
              <a:gd name="connsiteX1" fmla="*/ 803286 w 2848014"/>
              <a:gd name="connsiteY1" fmla="*/ 0 h 2012982"/>
              <a:gd name="connsiteX2" fmla="*/ 2278119 w 2848014"/>
              <a:gd name="connsiteY2" fmla="*/ 0 h 2012982"/>
              <a:gd name="connsiteX3" fmla="*/ 2848014 w 2848014"/>
              <a:gd name="connsiteY3" fmla="*/ 2004993 h 2012982"/>
              <a:gd name="connsiteX4" fmla="*/ 2324139 w 2848014"/>
              <a:gd name="connsiteY4" fmla="*/ 857251 h 2012982"/>
              <a:gd name="connsiteX5" fmla="*/ 0 w 2848014"/>
              <a:gd name="connsiteY5" fmla="*/ 836577 h 2012982"/>
              <a:gd name="connsiteX0" fmla="*/ 0 w 2544823"/>
              <a:gd name="connsiteY0" fmla="*/ 836577 h 2008229"/>
              <a:gd name="connsiteX1" fmla="*/ 803286 w 2544823"/>
              <a:gd name="connsiteY1" fmla="*/ 0 h 2008229"/>
              <a:gd name="connsiteX2" fmla="*/ 2278119 w 2544823"/>
              <a:gd name="connsiteY2" fmla="*/ 0 h 2008229"/>
              <a:gd name="connsiteX3" fmla="*/ 2349360 w 2544823"/>
              <a:gd name="connsiteY3" fmla="*/ 2000240 h 2008229"/>
              <a:gd name="connsiteX4" fmla="*/ 2324139 w 2544823"/>
              <a:gd name="connsiteY4" fmla="*/ 857251 h 2008229"/>
              <a:gd name="connsiteX5" fmla="*/ 0 w 2544823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3 w 2349360"/>
              <a:gd name="connsiteY4" fmla="*/ 928671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278119 w 2349360"/>
              <a:gd name="connsiteY2" fmla="*/ 0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349360"/>
              <a:gd name="connsiteY0" fmla="*/ 836577 h 2008229"/>
              <a:gd name="connsiteX1" fmla="*/ 803286 w 2349360"/>
              <a:gd name="connsiteY1" fmla="*/ 0 h 2008229"/>
              <a:gd name="connsiteX2" fmla="*/ 2349360 w 2349360"/>
              <a:gd name="connsiteY2" fmla="*/ 1 h 2008229"/>
              <a:gd name="connsiteX3" fmla="*/ 2349360 w 2349360"/>
              <a:gd name="connsiteY3" fmla="*/ 2000240 h 2008229"/>
              <a:gd name="connsiteX4" fmla="*/ 1921914 w 2349360"/>
              <a:gd name="connsiteY4" fmla="*/ 857233 h 2008229"/>
              <a:gd name="connsiteX5" fmla="*/ 0 w 2349360"/>
              <a:gd name="connsiteY5" fmla="*/ 836577 h 2008229"/>
              <a:gd name="connsiteX0" fmla="*/ 0 w 2563115"/>
              <a:gd name="connsiteY0" fmla="*/ 836577 h 2008229"/>
              <a:gd name="connsiteX1" fmla="*/ 803286 w 2563115"/>
              <a:gd name="connsiteY1" fmla="*/ 0 h 2008229"/>
              <a:gd name="connsiteX2" fmla="*/ 2563115 w 2563115"/>
              <a:gd name="connsiteY2" fmla="*/ 1 h 2008229"/>
              <a:gd name="connsiteX3" fmla="*/ 2349360 w 2563115"/>
              <a:gd name="connsiteY3" fmla="*/ 2000240 h 2008229"/>
              <a:gd name="connsiteX4" fmla="*/ 1921914 w 2563115"/>
              <a:gd name="connsiteY4" fmla="*/ 857233 h 2008229"/>
              <a:gd name="connsiteX5" fmla="*/ 0 w 2563115"/>
              <a:gd name="connsiteY5" fmla="*/ 836577 h 2008229"/>
              <a:gd name="connsiteX0" fmla="*/ 0 w 2563115"/>
              <a:gd name="connsiteY0" fmla="*/ 836577 h 2008230"/>
              <a:gd name="connsiteX1" fmla="*/ 803286 w 2563115"/>
              <a:gd name="connsiteY1" fmla="*/ 0 h 2008230"/>
              <a:gd name="connsiteX2" fmla="*/ 2563115 w 2563115"/>
              <a:gd name="connsiteY2" fmla="*/ 1 h 2008230"/>
              <a:gd name="connsiteX3" fmla="*/ 2563115 w 2563115"/>
              <a:gd name="connsiteY3" fmla="*/ 2000241 h 2008230"/>
              <a:gd name="connsiteX4" fmla="*/ 1921914 w 2563115"/>
              <a:gd name="connsiteY4" fmla="*/ 857233 h 2008230"/>
              <a:gd name="connsiteX5" fmla="*/ 0 w 2563115"/>
              <a:gd name="connsiteY5" fmla="*/ 836577 h 2008230"/>
              <a:gd name="connsiteX0" fmla="*/ 0 w 2707126"/>
              <a:gd name="connsiteY0" fmla="*/ 836577 h 2008230"/>
              <a:gd name="connsiteX1" fmla="*/ 803286 w 2707126"/>
              <a:gd name="connsiteY1" fmla="*/ 0 h 2008230"/>
              <a:gd name="connsiteX2" fmla="*/ 2707126 w 2707126"/>
              <a:gd name="connsiteY2" fmla="*/ 0 h 2008230"/>
              <a:gd name="connsiteX3" fmla="*/ 2563115 w 2707126"/>
              <a:gd name="connsiteY3" fmla="*/ 2000241 h 2008230"/>
              <a:gd name="connsiteX4" fmla="*/ 1921914 w 2707126"/>
              <a:gd name="connsiteY4" fmla="*/ 857233 h 2008230"/>
              <a:gd name="connsiteX5" fmla="*/ 0 w 2707126"/>
              <a:gd name="connsiteY5" fmla="*/ 836577 h 2008230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1921914 w 2707126"/>
              <a:gd name="connsiteY4" fmla="*/ 857233 h 2008229"/>
              <a:gd name="connsiteX5" fmla="*/ 0 w 2707126"/>
              <a:gd name="connsiteY5" fmla="*/ 836577 h 2008229"/>
              <a:gd name="connsiteX0" fmla="*/ 0 w 2707126"/>
              <a:gd name="connsiteY0" fmla="*/ 836577 h 2008229"/>
              <a:gd name="connsiteX1" fmla="*/ 803286 w 2707126"/>
              <a:gd name="connsiteY1" fmla="*/ 0 h 2008229"/>
              <a:gd name="connsiteX2" fmla="*/ 2707126 w 2707126"/>
              <a:gd name="connsiteY2" fmla="*/ 0 h 2008229"/>
              <a:gd name="connsiteX3" fmla="*/ 2707125 w 2707126"/>
              <a:gd name="connsiteY3" fmla="*/ 2000240 h 2008229"/>
              <a:gd name="connsiteX4" fmla="*/ 2279711 w 2707126"/>
              <a:gd name="connsiteY4" fmla="*/ 857233 h 2008229"/>
              <a:gd name="connsiteX5" fmla="*/ 0 w 2707126"/>
              <a:gd name="connsiteY5" fmla="*/ 836577 h 2008229"/>
              <a:gd name="connsiteX0" fmla="*/ 0 w 2350922"/>
              <a:gd name="connsiteY0" fmla="*/ 785795 h 2008229"/>
              <a:gd name="connsiteX1" fmla="*/ 447082 w 2350922"/>
              <a:gd name="connsiteY1" fmla="*/ 0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284964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564645"/>
              <a:gd name="connsiteY0" fmla="*/ 785795 h 2008229"/>
              <a:gd name="connsiteX1" fmla="*/ 498687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564645"/>
              <a:gd name="connsiteY0" fmla="*/ 785795 h 2008229"/>
              <a:gd name="connsiteX1" fmla="*/ 641169 w 2564645"/>
              <a:gd name="connsiteY1" fmla="*/ 1 h 2008229"/>
              <a:gd name="connsiteX2" fmla="*/ 2564645 w 2564645"/>
              <a:gd name="connsiteY2" fmla="*/ 0 h 2008229"/>
              <a:gd name="connsiteX3" fmla="*/ 2564644 w 2564645"/>
              <a:gd name="connsiteY3" fmla="*/ 2000240 h 2008229"/>
              <a:gd name="connsiteX4" fmla="*/ 2137230 w 2564645"/>
              <a:gd name="connsiteY4" fmla="*/ 857233 h 2008229"/>
              <a:gd name="connsiteX5" fmla="*/ 0 w 2564645"/>
              <a:gd name="connsiteY5" fmla="*/ 785795 h 2008229"/>
              <a:gd name="connsiteX0" fmla="*/ 0 w 2350922"/>
              <a:gd name="connsiteY0" fmla="*/ 785795 h 2008229"/>
              <a:gd name="connsiteX1" fmla="*/ 427446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569928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350922"/>
              <a:gd name="connsiteY0" fmla="*/ 785795 h 2008229"/>
              <a:gd name="connsiteX1" fmla="*/ 498687 w 2350922"/>
              <a:gd name="connsiteY1" fmla="*/ 1 h 2008229"/>
              <a:gd name="connsiteX2" fmla="*/ 2350922 w 2350922"/>
              <a:gd name="connsiteY2" fmla="*/ 0 h 2008229"/>
              <a:gd name="connsiteX3" fmla="*/ 2350921 w 2350922"/>
              <a:gd name="connsiteY3" fmla="*/ 2000240 h 2008229"/>
              <a:gd name="connsiteX4" fmla="*/ 1923507 w 2350922"/>
              <a:gd name="connsiteY4" fmla="*/ 857233 h 2008229"/>
              <a:gd name="connsiteX5" fmla="*/ 0 w 2350922"/>
              <a:gd name="connsiteY5" fmla="*/ 785795 h 2008229"/>
              <a:gd name="connsiteX0" fmla="*/ 0 w 2422163"/>
              <a:gd name="connsiteY0" fmla="*/ 785795 h 2008229"/>
              <a:gd name="connsiteX1" fmla="*/ 569928 w 2422163"/>
              <a:gd name="connsiteY1" fmla="*/ 1 h 2008229"/>
              <a:gd name="connsiteX2" fmla="*/ 2422163 w 2422163"/>
              <a:gd name="connsiteY2" fmla="*/ 0 h 2008229"/>
              <a:gd name="connsiteX3" fmla="*/ 2422162 w 2422163"/>
              <a:gd name="connsiteY3" fmla="*/ 2000240 h 2008229"/>
              <a:gd name="connsiteX4" fmla="*/ 1994748 w 2422163"/>
              <a:gd name="connsiteY4" fmla="*/ 857233 h 2008229"/>
              <a:gd name="connsiteX5" fmla="*/ 0 w 2422163"/>
              <a:gd name="connsiteY5" fmla="*/ 785795 h 200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2163" h="2008229">
                <a:moveTo>
                  <a:pt x="0" y="785795"/>
                </a:moveTo>
                <a:cubicBezTo>
                  <a:pt x="44345" y="235086"/>
                  <a:pt x="468176" y="638367"/>
                  <a:pt x="569928" y="1"/>
                </a:cubicBezTo>
                <a:lnTo>
                  <a:pt x="2422163" y="0"/>
                </a:lnTo>
                <a:cubicBezTo>
                  <a:pt x="2422163" y="666747"/>
                  <a:pt x="2422162" y="1333493"/>
                  <a:pt x="2422162" y="2000240"/>
                </a:cubicBezTo>
                <a:cubicBezTo>
                  <a:pt x="1479111" y="2008229"/>
                  <a:pt x="2215432" y="1239814"/>
                  <a:pt x="1994748" y="857233"/>
                </a:cubicBezTo>
                <a:lnTo>
                  <a:pt x="0" y="78579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0">
                <a:schemeClr val="bg1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6" name="Rectangle 21"/>
          <p:cNvSpPr>
            <a:spLocks noChangeArrowheads="1"/>
          </p:cNvSpPr>
          <p:nvPr userDrawn="1"/>
        </p:nvSpPr>
        <p:spPr bwMode="auto">
          <a:xfrm>
            <a:off x="0" y="6489700"/>
            <a:ext cx="9144000" cy="368300"/>
          </a:xfrm>
          <a:prstGeom prst="rect">
            <a:avLst/>
          </a:prstGeom>
          <a:gradFill rotWithShape="1">
            <a:gsLst>
              <a:gs pos="0">
                <a:srgbClr val="EAEAEA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 b="1" dirty="0">
              <a:solidFill>
                <a:srgbClr val="000000"/>
              </a:solidFill>
              <a:latin typeface="굴림" charset="-127"/>
            </a:endParaRPr>
          </a:p>
        </p:txBody>
      </p:sp>
      <p:sp>
        <p:nvSpPr>
          <p:cNvPr id="7" name="Line 23"/>
          <p:cNvSpPr>
            <a:spLocks noChangeShapeType="1"/>
          </p:cNvSpPr>
          <p:nvPr userDrawn="1"/>
        </p:nvSpPr>
        <p:spPr bwMode="auto">
          <a:xfrm>
            <a:off x="0" y="6489700"/>
            <a:ext cx="9134475" cy="0"/>
          </a:xfrm>
          <a:prstGeom prst="line">
            <a:avLst/>
          </a:prstGeom>
          <a:noFill/>
          <a:ln w="28575">
            <a:solidFill>
              <a:srgbClr val="4E73B0"/>
            </a:solidFill>
            <a:round/>
            <a:headEnd/>
            <a:tailEnd/>
          </a:ln>
          <a:effectLst>
            <a:outerShdw dist="28398" dir="3806097" algn="ctr" rotWithShape="0">
              <a:srgbClr val="EAEAEA"/>
            </a:outerShdw>
          </a:effectLst>
        </p:spPr>
        <p:txBody>
          <a:bodyPr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8" name="Picture 32" descr="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8450" y="6500813"/>
            <a:ext cx="11430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모서리가 둥근 직사각형 8"/>
          <p:cNvSpPr/>
          <p:nvPr userDrawn="1"/>
        </p:nvSpPr>
        <p:spPr bwMode="auto">
          <a:xfrm>
            <a:off x="227013" y="785813"/>
            <a:ext cx="8689975" cy="5513387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0" name="모서리가 둥근 직사각형 9"/>
          <p:cNvSpPr/>
          <p:nvPr userDrawn="1"/>
        </p:nvSpPr>
        <p:spPr bwMode="auto">
          <a:xfrm>
            <a:off x="227013" y="773113"/>
            <a:ext cx="8689975" cy="5538787"/>
          </a:xfrm>
          <a:prstGeom prst="roundRect">
            <a:avLst>
              <a:gd name="adj" fmla="val 1626"/>
            </a:avLst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lIns="72000" tIns="36000" rIns="72000" bIns="36000" anchor="ctr"/>
          <a:lstStyle/>
          <a:p>
            <a:pPr>
              <a:defRPr/>
            </a:pPr>
            <a:endParaRPr lang="ko-KR" altLang="en-US" sz="1400" b="1">
              <a:solidFill>
                <a:srgbClr val="000000"/>
              </a:solidFill>
              <a:latin typeface="굴림" pitchFamily="50" charset="-127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98438" y="6551613"/>
            <a:ext cx="3167062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kern="10" dirty="0">
                <a:ln w="9525">
                  <a:noFill/>
                  <a:round/>
                  <a:headEnd/>
                  <a:tailEnd/>
                </a:ln>
                <a:solidFill>
                  <a:srgbClr val="37527D"/>
                </a:solidFill>
                <a:latin typeface="HY견고딕" pitchFamily="18" charset="-127"/>
                <a:ea typeface="HY견고딕" pitchFamily="18" charset="-127"/>
              </a:rPr>
              <a:t>Dissemination of KVER Program to Thailand</a:t>
            </a:r>
            <a:endParaRPr lang="ko-KR" altLang="en-US" sz="1000" kern="10" dirty="0">
              <a:ln w="9525">
                <a:noFill/>
                <a:round/>
                <a:headEnd/>
                <a:tailEnd/>
              </a:ln>
              <a:solidFill>
                <a:srgbClr val="37527D"/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10450" y="238125"/>
            <a:ext cx="1554163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63500"/>
            <a:ext cx="7345363" cy="650856"/>
          </a:xfrm>
        </p:spPr>
        <p:txBody>
          <a:bodyPr rtlCol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400" b="0" kern="1200">
                <a:solidFill>
                  <a:schemeClr val="bg1"/>
                </a:solidFill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505200" y="6572250"/>
            <a:ext cx="2133600" cy="285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1" hangingPunct="1">
              <a:defRPr lang="en-US" altLang="ko-KR" sz="1000" b="1" kern="1200">
                <a:solidFill>
                  <a:srgbClr val="4E73B0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E0712B14-EA17-4503-A99B-53E7454DED79}" type="slidenum">
              <a:rPr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0928538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6" descr="master2.jpg"/>
          <p:cNvPicPr>
            <a:picLocks noChangeAspect="1"/>
          </p:cNvPicPr>
          <p:nvPr userDrawn="1"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92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319838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1">
              <a:defRPr kumimoji="0" sz="1000" b="0">
                <a:solidFill>
                  <a:schemeClr val="tx1"/>
                </a:solidFill>
                <a:ea typeface="HY헤드라인M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115888"/>
            <a:ext cx="8229600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21" r:id="rId1"/>
    <p:sldLayoutId id="2147484922" r:id="rId2"/>
    <p:sldLayoutId id="2147484923" r:id="rId3"/>
    <p:sldLayoutId id="2147484924" r:id="rId4"/>
    <p:sldLayoutId id="2147484925" r:id="rId5"/>
    <p:sldLayoutId id="2147484926" r:id="rId6"/>
    <p:sldLayoutId id="2147484927" r:id="rId7"/>
    <p:sldLayoutId id="2147484928" r:id="rId8"/>
    <p:sldLayoutId id="2147484929" r:id="rId9"/>
    <p:sldLayoutId id="2147484930" r:id="rId10"/>
    <p:sldLayoutId id="2147484931" r:id="rId11"/>
    <p:sldLayoutId id="2147484943" r:id="rId12"/>
    <p:sldLayoutId id="2147484944" r:id="rId13"/>
    <p:sldLayoutId id="2147484945" r:id="rId14"/>
    <p:sldLayoutId id="2147484946" r:id="rId15"/>
    <p:sldLayoutId id="2147484947" r:id="rId16"/>
    <p:sldLayoutId id="2147484948" r:id="rId17"/>
  </p:sldLayoutIdLst>
  <p:transition/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HY헤드라인M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HY헤드라인M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HY헤드라인M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200" b="1" i="1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Arial" pitchFamily="34" charset="0"/>
          <a:ea typeface="HY헤드라인M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HY헤드라인M" pitchFamily="18" charset="-127"/>
          <a:ea typeface="HY헤드라인M" pitchFamily="18" charset="-127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30000"/>
        </a:spcAft>
        <a:buSzPct val="85000"/>
        <a:buFont typeface="Wingdings" pitchFamily="2" charset="2"/>
        <a:buChar char="•"/>
        <a:defRPr kumimoji="1" sz="1300" b="1">
          <a:solidFill>
            <a:srgbClr val="000000"/>
          </a:solidFill>
          <a:latin typeface="+mn-lt"/>
          <a:ea typeface="+mn-ea"/>
          <a:cs typeface="+mn-cs"/>
        </a:defRPr>
      </a:lvl1pPr>
      <a:lvl2pPr marL="7683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87450" indent="-228600" algn="l" rtl="0" eaLnBrk="0" fontAlgn="base" latinLnBrk="1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6550" indent="-228600" algn="l" rtl="0" eaLnBrk="0" fontAlgn="base" latinLnBrk="1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마스터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932" r:id="rId1"/>
    <p:sldLayoutId id="2147484933" r:id="rId2"/>
    <p:sldLayoutId id="2147484934" r:id="rId3"/>
    <p:sldLayoutId id="2147484935" r:id="rId4"/>
    <p:sldLayoutId id="2147484936" r:id="rId5"/>
    <p:sldLayoutId id="2147484937" r:id="rId6"/>
    <p:sldLayoutId id="2147484938" r:id="rId7"/>
    <p:sldLayoutId id="2147484939" r:id="rId8"/>
    <p:sldLayoutId id="2147484940" r:id="rId9"/>
    <p:sldLayoutId id="2147484941" r:id="rId10"/>
    <p:sldLayoutId id="2147484942" r:id="rId11"/>
    <p:sldLayoutId id="214748494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그림 7" descr="006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429000"/>
            <a:ext cx="9144000" cy="240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2915816" y="3668655"/>
            <a:ext cx="33623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en-US" altLang="ko-KR" sz="2000" b="1" dirty="0" smtClean="0">
              <a:solidFill>
                <a:schemeClr val="tx1">
                  <a:lumMod val="90000"/>
                  <a:lumOff val="10000"/>
                </a:schemeClr>
              </a:solidFill>
              <a:latin typeface="08서울남산체 EB" pitchFamily="18" charset="-127"/>
              <a:ea typeface="08서울남산체 EB" pitchFamily="18" charset="-127"/>
            </a:endParaRPr>
          </a:p>
          <a:p>
            <a:pPr>
              <a:defRPr/>
            </a:pPr>
            <a:r>
              <a:rPr lang="en-US" altLang="ko-KR" sz="2000" b="1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08서울남산체 EB" pitchFamily="18" charset="-127"/>
                <a:ea typeface="08서울남산체 EB" pitchFamily="18" charset="-127"/>
              </a:rPr>
              <a:t>2016</a:t>
            </a:r>
            <a:r>
              <a:rPr lang="en-US" altLang="ko-KR" sz="2000" b="1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08서울남산체 EB" pitchFamily="18" charset="-127"/>
                <a:ea typeface="08서울남산체 EB" pitchFamily="18" charset="-127"/>
              </a:rPr>
              <a:t>. 04. 22 (</a:t>
            </a:r>
            <a:r>
              <a:rPr lang="ko-KR" altLang="en-US" sz="2000" b="1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08서울남산체 EB" pitchFamily="18" charset="-127"/>
                <a:ea typeface="08서울남산체 EB" pitchFamily="18" charset="-127"/>
              </a:rPr>
              <a:t>금</a:t>
            </a:r>
            <a:r>
              <a:rPr lang="en-US" altLang="ko-KR" sz="2000" b="1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08서울남산체 EB" pitchFamily="18" charset="-127"/>
                <a:ea typeface="08서울남산체 EB" pitchFamily="18" charset="-127"/>
              </a:rPr>
              <a:t>)   </a:t>
            </a:r>
            <a:endParaRPr lang="en-US" altLang="ko-KR" sz="2000" b="1" dirty="0">
              <a:solidFill>
                <a:schemeClr val="tx1">
                  <a:lumMod val="90000"/>
                  <a:lumOff val="10000"/>
                </a:schemeClr>
              </a:solidFill>
              <a:latin typeface="08서울남산체 EB" pitchFamily="18" charset="-127"/>
              <a:ea typeface="08서울남산체 EB" pitchFamily="18" charset="-127"/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979712" y="5468631"/>
            <a:ext cx="53432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b="1" dirty="0">
                <a:solidFill>
                  <a:schemeClr val="tx1">
                    <a:lumMod val="90000"/>
                    <a:lumOff val="10000"/>
                  </a:schemeClr>
                </a:solidFill>
                <a:latin typeface="HY동녘B" pitchFamily="18" charset="-127"/>
                <a:ea typeface="HY동녘B" pitchFamily="18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90000"/>
                    <a:lumOff val="10000"/>
                  </a:schemeClr>
                </a:solidFill>
                <a:latin typeface="HY동녘B" pitchFamily="18" charset="-127"/>
                <a:ea typeface="HY동녘B" pitchFamily="18" charset="-127"/>
              </a:rPr>
              <a:t>재</a:t>
            </a:r>
            <a:r>
              <a:rPr lang="en-US" altLang="ko-KR" b="1" dirty="0">
                <a:solidFill>
                  <a:schemeClr val="tx1">
                    <a:lumMod val="90000"/>
                    <a:lumOff val="10000"/>
                  </a:schemeClr>
                </a:solidFill>
                <a:latin typeface="HY동녘B" pitchFamily="18" charset="-127"/>
                <a:ea typeface="HY동녘B" pitchFamily="18" charset="-127"/>
              </a:rPr>
              <a:t>) </a:t>
            </a:r>
            <a:r>
              <a:rPr lang="ko-KR" alt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HY동녘B" pitchFamily="18" charset="-127"/>
                <a:ea typeface="HY동녘B" pitchFamily="18" charset="-127"/>
              </a:rPr>
              <a:t>안양군포의왕 공동급식지원센터</a:t>
            </a:r>
            <a:endParaRPr lang="ko-KR" altLang="en-US" b="1" dirty="0">
              <a:solidFill>
                <a:schemeClr val="tx1">
                  <a:lumMod val="90000"/>
                  <a:lumOff val="10000"/>
                </a:schemeClr>
              </a:solidFill>
              <a:latin typeface="08서울남산체 EB" pitchFamily="18" charset="-127"/>
              <a:ea typeface="08서울남산체 EB" pitchFamily="18" charset="-127"/>
            </a:endParaRPr>
          </a:p>
        </p:txBody>
      </p:sp>
      <p:sp>
        <p:nvSpPr>
          <p:cNvPr id="9222" name="Rectangle 8"/>
          <p:cNvSpPr>
            <a:spLocks noChangeArrowheads="1"/>
          </p:cNvSpPr>
          <p:nvPr/>
        </p:nvSpPr>
        <p:spPr bwMode="auto">
          <a:xfrm>
            <a:off x="647700" y="1124744"/>
            <a:ext cx="8027988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l" eaLnBrk="0" hangingPunct="0">
              <a:lnSpc>
                <a:spcPct val="150000"/>
              </a:lnSpc>
            </a:pPr>
            <a:r>
              <a:rPr lang="ko-KR" altLang="en-US" b="1" i="1" dirty="0" smtClean="0">
                <a:solidFill>
                  <a:srgbClr val="2692FF"/>
                </a:solidFill>
                <a:latin typeface="Arial" pitchFamily="34" charset="0"/>
              </a:rPr>
              <a:t>안양군포의왕 </a:t>
            </a:r>
            <a:endParaRPr lang="en-US" altLang="ko-KR" b="1" i="1" dirty="0" smtClean="0">
              <a:solidFill>
                <a:srgbClr val="2692FF"/>
              </a:solidFill>
              <a:latin typeface="Arial" pitchFamily="34" charset="0"/>
            </a:endParaRPr>
          </a:p>
          <a:p>
            <a:pPr eaLnBrk="0" hangingPunct="0">
              <a:lnSpc>
                <a:spcPct val="150000"/>
              </a:lnSpc>
            </a:pPr>
            <a:r>
              <a:rPr lang="ko-KR" altLang="en-US" sz="4400" b="1" dirty="0" smtClean="0">
                <a:solidFill>
                  <a:srgbClr val="2692FF"/>
                </a:solidFill>
                <a:latin typeface="Arial" pitchFamily="34" charset="0"/>
              </a:rPr>
              <a:t>공동급식지원센터 사업설명회</a:t>
            </a:r>
            <a:endParaRPr lang="en-US" altLang="ko-KR" sz="4400" b="1" dirty="0">
              <a:solidFill>
                <a:srgbClr val="2692FF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기관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1262541"/>
            <a:ext cx="8424936" cy="5046779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384315"/>
            <a:ext cx="736898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설립근거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20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학교급식법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제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조 제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항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학교급식지원센터 설치법령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</a:p>
          <a:p>
            <a:pPr algn="just">
              <a:lnSpc>
                <a:spcPct val="20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안양군포의왕 공동급식지원센터 설립 및 운영조례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200000"/>
              </a:lnSpc>
            </a:pPr>
            <a:endParaRPr kumimoji="0" lang="en-US" altLang="ko-KR" sz="6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20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설립목적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관련 조례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조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</a:p>
          <a:p>
            <a:pPr algn="just">
              <a:lnSpc>
                <a:spcPct val="20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안양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‧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군포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‧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의왕시는 지리적으로 </a:t>
            </a:r>
            <a:r>
              <a:rPr lang="ko-KR" altLang="en-US" sz="1800" b="1" dirty="0" err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안양권에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위치한 동일 생활권으로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200000"/>
              </a:lnSpc>
            </a:pP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3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개시 공동설치를 통해 경제적 효율을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증대함으로써 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학생들에게 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200000"/>
              </a:lnSpc>
            </a:pP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친환경 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및 </a:t>
            </a:r>
            <a:r>
              <a:rPr lang="ko-KR" altLang="en-US" sz="1800" b="1" dirty="0" err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지역산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우수 </a:t>
            </a:r>
            <a:r>
              <a:rPr lang="ko-KR" altLang="en-US" sz="1800" b="1" dirty="0" err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식재료의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원활한 공급과 식생활교육을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통해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200000"/>
              </a:lnSpc>
            </a:pP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건전한 심신발달 및 식생활 개선에 기여하고자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설립됨</a:t>
            </a:r>
            <a:endParaRPr lang="ko-KR" altLang="en-US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일반현황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0" name="타원 19"/>
          <p:cNvSpPr/>
          <p:nvPr/>
        </p:nvSpPr>
        <p:spPr bwMode="auto">
          <a:xfrm>
            <a:off x="8457804" y="6321991"/>
            <a:ext cx="424227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1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130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기관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1262541"/>
            <a:ext cx="8424936" cy="493981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369506"/>
            <a:ext cx="8809148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사업영역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관련조례 제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</a:t>
            </a:r>
            <a:r>
              <a:rPr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조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친환경 농산물 및 관내 우수 식재료의 발굴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보급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학생과 시민을 위한 식생활교육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홍보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체험활동 사업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기타 학생들의 건전한 심신발달과 학교급식지원을 위한 사업</a:t>
            </a:r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연혁</a:t>
            </a:r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3개시 </a:t>
            </a:r>
            <a:r>
              <a:rPr lang="en-US" altLang="ko-KR" sz="1800" b="1" dirty="0" err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학교급식사업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b="1" dirty="0" err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협력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b="1" dirty="0" err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협약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(3개 </a:t>
            </a:r>
            <a:r>
              <a:rPr lang="en-US" altLang="ko-KR" sz="1800" b="1" dirty="0" err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시장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</a:t>
            </a:r>
            <a:r>
              <a:rPr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개 </a:t>
            </a:r>
            <a:r>
              <a:rPr lang="en-US" altLang="ko-KR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교육장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 : 2011. 9.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개시 공동급식지원센터 설립 타당성 및 운영방안 연구용역 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 2011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10 ~ 2012.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</a:t>
            </a:r>
            <a:endParaRPr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공동 급식지원센터 설립 관련조례 제정 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2012. 11 ~ 12</a:t>
            </a:r>
            <a:endParaRPr lang="ko-KR" altLang="en-US" sz="1800" b="1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재단법인 안양군포의왕 공동급식지원센터 설립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·</a:t>
            </a:r>
            <a:r>
              <a:rPr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등기 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2013. 3.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endParaRPr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센터 개소 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2013. 5. 15</a:t>
            </a:r>
            <a:endParaRPr lang="ko-KR" altLang="en-US" sz="1800" b="1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endParaRPr lang="ko-KR" altLang="en-US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일반현황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>
            <a:off x="8457804" y="6321991"/>
            <a:ext cx="424227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2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7668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기관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819923"/>
            <a:ext cx="8424936" cy="5705421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타원 8"/>
          <p:cNvSpPr/>
          <p:nvPr/>
        </p:nvSpPr>
        <p:spPr bwMode="auto">
          <a:xfrm>
            <a:off x="8457804" y="6321991"/>
            <a:ext cx="424227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3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4" name="Rectangle 102"/>
          <p:cNvSpPr>
            <a:spLocks noChangeArrowheads="1"/>
          </p:cNvSpPr>
          <p:nvPr/>
        </p:nvSpPr>
        <p:spPr bwMode="auto">
          <a:xfrm>
            <a:off x="796925" y="1803400"/>
            <a:ext cx="2735263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latinLnBrk="1" hangingPunct="1"/>
            <a:r>
              <a:rPr lang="ko-KR" altLang="en-US" sz="20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설 립 근 거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69328317"/>
              </p:ext>
            </p:extLst>
          </p:nvPr>
        </p:nvGraphicFramePr>
        <p:xfrm>
          <a:off x="684213" y="1412875"/>
          <a:ext cx="7848600" cy="5329238"/>
        </p:xfrm>
        <a:graphic>
          <a:graphicData uri="http://schemas.openxmlformats.org/drawingml/2006/table">
            <a:tbl>
              <a:tblPr/>
              <a:tblGrid>
                <a:gridCol w="3924300"/>
                <a:gridCol w="3924300"/>
              </a:tblGrid>
              <a:tr h="10320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91437" marR="91437" marT="45726" marB="45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91437" marR="91437" marT="45726" marB="45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829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3</a:t>
                      </a:r>
                      <a:r>
                        <a:rPr lang="ko-KR" altLang="en-US" sz="1400" b="0" smtClean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개시</a:t>
                      </a:r>
                      <a:r>
                        <a:rPr lang="en-US" altLang="ko-KR" sz="1400" b="0" dirty="0" smtClean="0">
                          <a:solidFill>
                            <a:srgbClr val="00206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·2</a:t>
                      </a:r>
                      <a:r>
                        <a:rPr lang="ko-KR" altLang="en-US" sz="1400" b="0" smtClean="0">
                          <a:solidFill>
                            <a:srgbClr val="002060"/>
                          </a:solidFill>
                          <a:latin typeface="HY견고딕" panose="02030600000101010101" pitchFamily="18" charset="-127"/>
                          <a:ea typeface="HY견고딕" panose="02030600000101010101" pitchFamily="18" charset="-127"/>
                        </a:rPr>
                        <a:t>개지원청 </a:t>
                      </a:r>
                      <a:r>
                        <a:rPr lang="ko-KR" altLang="en-US" sz="1400" b="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학교급식 </a:t>
                      </a:r>
                      <a:r>
                        <a:rPr lang="ko-KR" altLang="en-US" sz="1400" b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지원사업 </a:t>
                      </a:r>
                      <a:endParaRPr lang="en-US" altLang="ko-KR" sz="1400" b="0" dirty="0" smtClean="0">
                        <a:solidFill>
                          <a:srgbClr val="002060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dirty="0" smtClean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상호협력 </a:t>
                      </a:r>
                      <a:r>
                        <a:rPr lang="ko-KR" altLang="en-US" sz="1400" b="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협약</a:t>
                      </a:r>
                      <a:r>
                        <a:rPr lang="en-US" altLang="ko-KR" sz="1400" b="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(2011.9.8)</a:t>
                      </a:r>
                      <a:endParaRPr lang="ko-KR" altLang="en-US" sz="1100" b="0" dirty="0">
                        <a:solidFill>
                          <a:srgbClr val="000000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91437" marR="91437" marT="45726" marB="45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공동급식지원센터 설립운영을 위한 </a:t>
                      </a:r>
                      <a:r>
                        <a:rPr lang="ko-KR" altLang="en-US" sz="1400" dirty="0" err="1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협약식</a:t>
                      </a:r>
                      <a:r>
                        <a:rPr lang="en-US" altLang="ko-KR" sz="140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(2013.1.25)</a:t>
                      </a:r>
                      <a:endParaRPr lang="ko-KR" altLang="en-US" sz="1100" dirty="0">
                        <a:solidFill>
                          <a:srgbClr val="000000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91437" marR="91437" marT="45726" marB="45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20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91437" marR="91437" marT="45726" marB="45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91437" marR="91437" marT="45726" marB="45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821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발기인 총회</a:t>
                      </a:r>
                      <a:r>
                        <a:rPr lang="en-US" altLang="ko-KR" sz="140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(2013.1.25)</a:t>
                      </a:r>
                      <a:endParaRPr lang="ko-KR" altLang="en-US" sz="1100" dirty="0">
                        <a:solidFill>
                          <a:srgbClr val="000000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91437" marR="91437" marT="45726" marB="45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공동급식지원 센터 개소</a:t>
                      </a:r>
                      <a:r>
                        <a:rPr lang="en-US" altLang="ko-KR" sz="1400" dirty="0">
                          <a:solidFill>
                            <a:srgbClr val="002060"/>
                          </a:solidFill>
                          <a:latin typeface="HY견고딕" pitchFamily="18" charset="-127"/>
                          <a:ea typeface="HY견고딕" pitchFamily="18" charset="-127"/>
                        </a:rPr>
                        <a:t>(2013.5.15)</a:t>
                      </a:r>
                      <a:endParaRPr lang="ko-KR" altLang="en-US" sz="1100" dirty="0">
                        <a:solidFill>
                          <a:srgbClr val="000000"/>
                        </a:solidFill>
                        <a:latin typeface="HY견고딕" pitchFamily="18" charset="-127"/>
                        <a:ea typeface="HY견고딕" pitchFamily="18" charset="-127"/>
                      </a:endParaRPr>
                    </a:p>
                  </a:txBody>
                  <a:tcPr marL="91437" marR="91437" marT="45726" marB="457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1" name="_x60018672" descr="EMB00000a54421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73163" y="1196975"/>
            <a:ext cx="2894012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_x60019552" descr="EMB00000a54421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51400" y="1196975"/>
            <a:ext cx="3033713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_x60021792" descr="EMB00000a54421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73163" y="4013200"/>
            <a:ext cx="2894012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_x60083720" descr="EMB00000a54422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16475" y="4005263"/>
            <a:ext cx="3140075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4967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기관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1262541"/>
            <a:ext cx="8424936" cy="4939814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369506"/>
            <a:ext cx="8809148" cy="858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기구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일반현황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568" y="1844824"/>
            <a:ext cx="7560840" cy="4041690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 bwMode="auto">
          <a:xfrm>
            <a:off x="8457804" y="6321991"/>
            <a:ext cx="424227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4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6185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기관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1262540"/>
            <a:ext cx="8424936" cy="5262803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369506"/>
            <a:ext cx="880914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정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· </a:t>
            </a:r>
            <a:r>
              <a:rPr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현원 현황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일반현황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1861913"/>
            <a:ext cx="7560840" cy="4390165"/>
          </a:xfrm>
          <a:prstGeom prst="rect">
            <a:avLst/>
          </a:prstGeom>
        </p:spPr>
      </p:pic>
      <p:sp>
        <p:nvSpPr>
          <p:cNvPr id="11" name="타원 10"/>
          <p:cNvSpPr/>
          <p:nvPr/>
        </p:nvSpPr>
        <p:spPr bwMode="auto">
          <a:xfrm>
            <a:off x="8457804" y="6321991"/>
            <a:ext cx="424227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5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3956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사업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51520" y="1268760"/>
            <a:ext cx="8424936" cy="5406820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484784"/>
            <a:ext cx="8114097" cy="3347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학교급식 </a:t>
            </a:r>
            <a:r>
              <a:rPr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식재료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우수 공급업체 추천사업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◎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개 요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공급기간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2016. 3 ~ 2017. 2 (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교육청 학년제 기준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대      상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공동구매를 희망하는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학교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품      목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무농약쌀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수산물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가공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품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유기농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김치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등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5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◎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공동구매 참여학교 현황                                              </a:t>
            </a:r>
            <a:r>
              <a:rPr kumimoji="0" lang="ko-KR" altLang="en-US" sz="12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기준 </a:t>
            </a:r>
            <a:r>
              <a:rPr kumimoji="0" lang="en-US" altLang="ko-KR" sz="12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16.4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10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2016 </a:t>
            </a:r>
            <a:r>
              <a:rPr lang="ko-KR" altLang="en-US"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주요 사업계획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>
            <a:off x="8457804" y="6321991"/>
            <a:ext cx="424227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6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971600" y="4237706"/>
          <a:ext cx="6912768" cy="2198172"/>
        </p:xfrm>
        <a:graphic>
          <a:graphicData uri="http://schemas.openxmlformats.org/drawingml/2006/table">
            <a:tbl>
              <a:tblPr/>
              <a:tblGrid>
                <a:gridCol w="936104"/>
                <a:gridCol w="1401822"/>
                <a:gridCol w="1143792"/>
                <a:gridCol w="1143792"/>
                <a:gridCol w="1143792"/>
                <a:gridCol w="1143466"/>
              </a:tblGrid>
              <a:tr h="449568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구 분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초등학교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중학교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고등학교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508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전체학교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80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43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34</a:t>
                      </a:r>
                      <a:endParaRPr 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69508">
                <a:tc rowSpan="3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참여</a:t>
                      </a:r>
                      <a:endParaRPr lang="en-US" altLang="ko-KR" sz="1600" kern="0" spc="0" dirty="0" smtClean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300" kern="0" spc="0" dirty="0" smtClean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학교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무농약쌀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80</a:t>
                      </a:r>
                      <a:endParaRPr 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43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수산물</a:t>
                      </a:r>
                      <a:endParaRPr lang="ko-KR" alt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80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42</a:t>
                      </a:r>
                      <a:endParaRPr 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5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가공식품</a:t>
                      </a:r>
                      <a:endParaRPr lang="ko-KR" altLang="en-US" sz="1600" kern="0" spc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80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spc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lang="en-US" sz="16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국내산</a:t>
                      </a: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NON-GMO</a:t>
                      </a:r>
                    </a:p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원료 사용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980950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사업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1262540"/>
            <a:ext cx="8424936" cy="5262803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794489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484784"/>
            <a:ext cx="811409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</a:t>
            </a:r>
            <a:r>
              <a:rPr kumimoji="0"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식재료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안전성 관리체계 확보 및 공개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사업기간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2016. 1 ~ 12</a:t>
            </a:r>
          </a:p>
          <a:p>
            <a:pPr algn="just"/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품      목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err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무농약쌀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수산물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가공품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유기농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김치 등</a:t>
            </a:r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주요내용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-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생산감독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시설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·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위생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작업자청결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원산지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법규준수 등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</a:p>
          <a:p>
            <a:pPr algn="just"/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-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잔류 농약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이화학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중금속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미생물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방사능 검사 등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▶ 생산점검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▶ 안전성 검사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</a:t>
            </a:r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* 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특이사항</a:t>
            </a:r>
            <a:endParaRPr kumimoji="0" lang="en-US" altLang="ko-KR" sz="1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pPr algn="just"/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       - 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방사능검사 </a:t>
            </a:r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: 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경기도 보건환경연구원과 협조</a:t>
            </a:r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endParaRPr kumimoji="0" lang="en-US" altLang="ko-KR" sz="1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pPr algn="just"/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       </a:t>
            </a:r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- 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쌀 </a:t>
            </a:r>
            <a:r>
              <a:rPr kumimoji="0" lang="ko-KR" altLang="en-US" sz="1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수매시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생산지와 협조하여 </a:t>
            </a:r>
            <a:r>
              <a:rPr kumimoji="0" lang="ko-KR" altLang="en-US" sz="1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인증별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전수 잔류농약 검사</a:t>
            </a:r>
            <a:endParaRPr kumimoji="0" lang="en-US" altLang="ko-KR" sz="1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pPr algn="just"/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       - 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학교 </a:t>
            </a:r>
            <a:r>
              <a:rPr kumimoji="0" lang="ko-KR" altLang="en-US" sz="18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요청시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농산물 잔류농약 속성검사 실시 </a:t>
            </a:r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: 16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년 </a:t>
            </a:r>
            <a:r>
              <a:rPr kumimoji="0" lang="en-US" altLang="ko-KR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200</a:t>
            </a:r>
            <a:r>
              <a:rPr kumimoji="0" lang="ko-KR" altLang="en-US" sz="1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여건 예정</a:t>
            </a:r>
            <a:endParaRPr kumimoji="0" lang="en-US" altLang="ko-KR" sz="1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en-US" altLang="ko-KR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2016 </a:t>
            </a:r>
            <a:r>
              <a:rPr lang="ko-KR" altLang="en-US" sz="2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주요 사업계획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>
            <a:off x="8457804" y="6321991"/>
            <a:ext cx="424227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8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592" y="3536429"/>
            <a:ext cx="7158310" cy="68465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5866" y="4634010"/>
            <a:ext cx="7086302" cy="59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700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사업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1262541"/>
            <a:ext cx="8424936" cy="5300556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340768"/>
            <a:ext cx="8114097" cy="2793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학교급식 지역업체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생산자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발굴</a:t>
            </a:r>
            <a:r>
              <a:rPr lang="en-US" altLang="ko-KR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연계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</a:t>
            </a:r>
            <a:r>
              <a:rPr kumimoji="0" lang="ko-KR" altLang="en-US" sz="18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사업기간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2016. 1 ~ 12</a:t>
            </a: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대      상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관내 친환경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· 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우수 </a:t>
            </a:r>
            <a:r>
              <a:rPr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식재료</a:t>
            </a:r>
            <a:r>
              <a:rPr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공급업체 및 생산자</a:t>
            </a:r>
            <a:endParaRPr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주요내용 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- </a:t>
            </a:r>
            <a:r>
              <a:rPr kumimoji="0"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지역내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친환경</a:t>
            </a:r>
            <a:r>
              <a:rPr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·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우수 </a:t>
            </a:r>
            <a:r>
              <a:rPr kumimoji="0" lang="ko-KR" altLang="en-US" sz="1800" b="1" dirty="0" err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식재료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발굴 및 홍보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    -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학교에 공급될 수 있도록 </a:t>
            </a:r>
            <a:r>
              <a:rPr kumimoji="0" lang="ko-KR" altLang="en-US" sz="1800" b="1" dirty="0" err="1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교육지원청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itchFamily="18" charset="-127"/>
                <a:ea typeface="바탕" pitchFamily="18" charset="-127"/>
              </a:rPr>
              <a:t> 및 학교에 추천</a:t>
            </a:r>
            <a:endParaRPr kumimoji="0" lang="en-US" altLang="ko-KR" sz="1800" b="1" dirty="0" smtClean="0">
              <a:solidFill>
                <a:schemeClr val="tx1"/>
              </a:solidFill>
              <a:latin typeface="바탕" pitchFamily="18" charset="-127"/>
              <a:ea typeface="바탕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9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2016 </a:t>
            </a:r>
            <a:r>
              <a:rPr lang="ko-KR" altLang="en-US" sz="200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주요 사업계획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타원 7"/>
          <p:cNvSpPr/>
          <p:nvPr/>
        </p:nvSpPr>
        <p:spPr bwMode="auto">
          <a:xfrm>
            <a:off x="8457804" y="6321991"/>
            <a:ext cx="424227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9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780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사업 소개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1262541"/>
            <a:ext cx="8424936" cy="5300556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340768"/>
            <a:ext cx="811409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kumimoji="0" lang="ko-KR" altLang="en-US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□ </a:t>
            </a:r>
            <a:r>
              <a:rPr kumimoji="0" lang="ko-KR" altLang="en-US" sz="1800" b="1" dirty="0" err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대상별</a:t>
            </a:r>
            <a:r>
              <a:rPr kumimoji="0" lang="ko-KR" altLang="en-US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찾아가는 식생활 </a:t>
            </a:r>
            <a:r>
              <a:rPr kumimoji="0" lang="ko-KR" altLang="en-US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교육</a:t>
            </a:r>
            <a:endParaRPr kumimoji="0" lang="en-US" altLang="ko-KR" sz="1800" b="1" dirty="0" smtClean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vl="0" algn="just"/>
            <a:endParaRPr kumimoji="0" lang="en-US" altLang="ko-KR" sz="1800" b="1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 fontAlgn="ctr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학생대상 식생활교육 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250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연중</a:t>
            </a:r>
            <a:endParaRPr kumimoji="0" lang="en-US" altLang="ko-KR" sz="1800" b="1" dirty="0" smtClean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 fontAlgn="ctr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800" b="1" kern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kern="0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-</a:t>
            </a:r>
            <a:r>
              <a:rPr kumimoji="0" lang="ko-KR" altLang="en-US" sz="1800" b="1" ker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내용 </a:t>
            </a:r>
            <a:r>
              <a:rPr kumimoji="0" lang="en-US" altLang="ko-KR" sz="1800" b="1" kern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ker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우리쌀 바로알기</a:t>
            </a:r>
            <a:r>
              <a:rPr kumimoji="0" lang="en-US" altLang="ko-KR" sz="1800" b="1" kern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ker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패스트푸드</a:t>
            </a:r>
            <a:r>
              <a:rPr kumimoji="0" lang="en-US" altLang="ko-KR" sz="1800" b="1" kern="0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GMO, </a:t>
            </a:r>
            <a:r>
              <a:rPr kumimoji="0" lang="ko-KR" altLang="en-US" sz="1800" b="1" ker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첨가물 </a:t>
            </a:r>
            <a:endParaRPr kumimoji="0" lang="en-US" altLang="ko-KR" sz="1800" b="1" kern="0" dirty="0" smtClean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 fontAlgn="ctr">
              <a:spcBef>
                <a:spcPts val="0"/>
              </a:spcBef>
              <a:spcAft>
                <a:spcPts val="0"/>
              </a:spcAft>
            </a:pPr>
            <a:endParaRPr lang="ko-KR" altLang="en-US" sz="1800" kern="0" dirty="0">
              <a:solidFill>
                <a:srgbClr val="000000"/>
              </a:solidFill>
              <a:latin typeface="함초롬바탕" panose="02030604000101010101" pitchFamily="18" charset="-127"/>
            </a:endParaRPr>
          </a:p>
          <a:p>
            <a:pPr lvl="0" algn="just"/>
            <a:r>
              <a:rPr kumimoji="0" lang="en-US" altLang="ko-KR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▶ 학부모대상 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식생활교육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찾아가는 학부모교육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 : 15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연중</a:t>
            </a:r>
            <a:endParaRPr kumimoji="0" lang="en-US" altLang="ko-KR" sz="1800" b="1" dirty="0" smtClean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vl="0" algn="just"/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- </a:t>
            </a:r>
            <a:r>
              <a:rPr kumimoji="0" lang="ko-KR" altLang="en-US" sz="1800" b="1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목적 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친환경적인 사고 전환을 위한 학교급식 </a:t>
            </a:r>
            <a:r>
              <a:rPr kumimoji="0" lang="ko-KR" altLang="en-US" sz="1800" b="1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피드백</a:t>
            </a:r>
            <a:endParaRPr kumimoji="0" lang="en-US" altLang="ko-KR" sz="1800" b="1" dirty="0" smtClean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vl="0" algn="just"/>
            <a:endParaRPr kumimoji="0" lang="en-US" altLang="ko-KR" sz="1800" b="1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vl="0" algn="just"/>
            <a:r>
              <a:rPr kumimoji="0" lang="ko-KR" altLang="en-US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▶ 기관연계 </a:t>
            </a:r>
            <a:r>
              <a:rPr kumimoji="0" lang="ko-KR" altLang="en-US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식생활교육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3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연중</a:t>
            </a:r>
          </a:p>
          <a:p>
            <a:pPr lvl="0" algn="just"/>
            <a:r>
              <a:rPr kumimoji="0" lang="ko-KR" altLang="en-US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en-US" altLang="ko-KR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- 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사회소외계층대상식생활교육 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드림스타트등 연계 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</a:t>
            </a:r>
          </a:p>
          <a:p>
            <a:pPr lvl="0" algn="just"/>
            <a:r>
              <a:rPr kumimoji="0" lang="ko-KR" altLang="en-US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en-US" altLang="ko-KR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- </a:t>
            </a:r>
            <a:r>
              <a:rPr kumimoji="0" lang="ko-KR" altLang="en-US" sz="1800" b="1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식생활교육기관 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연계사업</a:t>
            </a:r>
            <a:r>
              <a:rPr kumimoji="0" lang="en-US" altLang="ko-KR" sz="1800" b="1" dirty="0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</a:t>
            </a:r>
            <a:r>
              <a:rPr kumimoji="0" lang="ko-KR" altLang="en-US" sz="1800" b="1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보건소</a:t>
            </a:r>
            <a:r>
              <a:rPr kumimoji="0" lang="en-US" altLang="ko-KR" sz="1800" b="1" dirty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kumimoji="0" lang="ko-KR" altLang="en-US" sz="1800" b="1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어린이급식관리지원센터 </a:t>
            </a:r>
            <a:r>
              <a:rPr kumimoji="0" lang="ko-KR" altLang="en-US" sz="1800" b="1" smtClean="0">
                <a:solidFill>
                  <a:srgbClr val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연계사업</a:t>
            </a:r>
            <a:endParaRPr kumimoji="0" lang="en-US" altLang="ko-KR" sz="1800" b="1" dirty="0" smtClean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lvl="0" algn="just"/>
            <a:endParaRPr kumimoji="0" lang="en-US" altLang="ko-KR" sz="1800" b="1" dirty="0" smtClean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▶ 친환경 </a:t>
            </a:r>
            <a:r>
              <a:rPr kumimoji="0"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생산지 견학 및 체험</a:t>
            </a:r>
          </a:p>
          <a:p>
            <a:pPr algn="just"/>
            <a:r>
              <a:rPr kumimoji="0"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- 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생산자와 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소비자 간의 신뢰 및 친환경급식에 대한 이해도 제고 </a:t>
            </a:r>
          </a:p>
          <a:p>
            <a:pPr algn="just"/>
            <a:r>
              <a:rPr kumimoji="0" lang="ko-KR" altLang="en-US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- 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도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․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농 교류 추진 활성화 도모 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/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kumimoji="0" lang="ko-KR" altLang="en-US" sz="1800" b="1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영양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교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 역량강화교육 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(1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월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8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월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</a:t>
            </a:r>
          </a:p>
          <a:p>
            <a:pPr algn="just"/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※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경기도교육연수원 지정연수기관</a:t>
            </a: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-</a:t>
            </a:r>
            <a:r>
              <a:rPr kumimoji="0" lang="ko-KR" altLang="en-US" sz="1800" b="1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학점부여 주요내용 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en-US" altLang="ko-KR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2016 </a:t>
            </a:r>
            <a:r>
              <a:rPr lang="ko-KR" altLang="en-US" sz="200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주요 사업계획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타원 7"/>
          <p:cNvSpPr/>
          <p:nvPr/>
        </p:nvSpPr>
        <p:spPr bwMode="auto">
          <a:xfrm>
            <a:off x="8457804" y="6321991"/>
            <a:ext cx="588778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10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0047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직사각형 80"/>
          <p:cNvSpPr>
            <a:spLocks noChangeArrowheads="1"/>
          </p:cNvSpPr>
          <p:nvPr/>
        </p:nvSpPr>
        <p:spPr bwMode="auto">
          <a:xfrm>
            <a:off x="587375" y="188913"/>
            <a:ext cx="39016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ko-KR" altLang="en-US" dirty="0" smtClean="0"/>
              <a:t>별첨</a:t>
            </a:r>
            <a:endParaRPr lang="en-US" altLang="ko-KR" dirty="0"/>
          </a:p>
        </p:txBody>
      </p:sp>
      <p:sp>
        <p:nvSpPr>
          <p:cNvPr id="37" name="모서리가 둥근 직사각형 36"/>
          <p:cNvSpPr/>
          <p:nvPr/>
        </p:nvSpPr>
        <p:spPr bwMode="auto">
          <a:xfrm>
            <a:off x="276549" y="1262541"/>
            <a:ext cx="8424936" cy="5300556"/>
          </a:xfrm>
          <a:prstGeom prst="roundRect">
            <a:avLst/>
          </a:pr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 kern="0">
              <a:solidFill>
                <a:sysClr val="window" lastClr="FFFFFF"/>
              </a:solidFill>
              <a:latin typeface="맑은 고딕"/>
              <a:ea typeface="맑은 고딕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56592" y="81992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87388" y="1340768"/>
            <a:ext cx="8114097" cy="5286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사업추진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경기도</a:t>
            </a:r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지원대상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초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중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고등학교 및 특수학교 중 희망하는 학교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자원품목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친환경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,G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마크 농축산물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GAP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농산물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유기가공식품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지원내용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일반농축산물과 친환경 농축산물과의 차액지원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-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도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50% :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50%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예산부담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▶ 참여학교 현황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(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농산물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)                                          </a:t>
            </a:r>
            <a:r>
              <a:rPr kumimoji="0" lang="ko-KR" altLang="en-US" sz="14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기준 </a:t>
            </a:r>
            <a:r>
              <a:rPr kumimoji="0" lang="en-US" altLang="ko-KR" sz="14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2015. 12</a:t>
            </a: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18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1800" b="1" dirty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     *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우수축산물 차액지원사업 참여현황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: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초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중등 </a:t>
            </a:r>
            <a:r>
              <a:rPr kumimoji="0" lang="en-US" altLang="ko-KR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80% </a:t>
            </a:r>
            <a:r>
              <a:rPr kumimoji="0" lang="ko-KR" altLang="en-US" sz="1800" b="1" dirty="0" smtClean="0">
                <a:solidFill>
                  <a:schemeClr val="tx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이상 참여</a:t>
            </a:r>
            <a:endParaRPr kumimoji="0" lang="en-US" altLang="ko-KR" sz="1000" b="1" dirty="0" smtClean="0">
              <a:solidFill>
                <a:srgbClr val="0000FF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endParaRPr kumimoji="0" lang="en-US" altLang="ko-KR" sz="900" b="1" dirty="0" smtClean="0">
              <a:solidFill>
                <a:schemeClr val="tx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17" name="AutoShape 19"/>
          <p:cNvSpPr>
            <a:spLocks noChangeArrowheads="1"/>
          </p:cNvSpPr>
          <p:nvPr/>
        </p:nvSpPr>
        <p:spPr bwMode="auto">
          <a:xfrm>
            <a:off x="683568" y="836711"/>
            <a:ext cx="7374334" cy="415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33CC"/>
              </a:gs>
              <a:gs pos="100000">
                <a:srgbClr val="0099FF"/>
              </a:gs>
            </a:gsLst>
            <a:lin ang="5400000" scaled="1"/>
          </a:gradFill>
          <a:ln w="19050" algn="ctr">
            <a:solidFill>
              <a:srgbClr val="FFFFFF"/>
            </a:solidFill>
            <a:round/>
            <a:headEnd/>
            <a:tailEnd/>
          </a:ln>
        </p:spPr>
        <p:txBody>
          <a:bodyPr lIns="54000" tIns="46800" rIns="54000" anchor="ctr"/>
          <a:lstStyle/>
          <a:p>
            <a:pPr algn="l">
              <a:defRPr/>
            </a:pPr>
            <a:r>
              <a:rPr lang="ko-KR" altLang="en-US" sz="2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Y견고딕" pitchFamily="18" charset="-127"/>
                <a:ea typeface="HY견고딕" pitchFamily="18" charset="-127"/>
              </a:rPr>
              <a:t>친환경 우수농축산물 차액지원 사업</a:t>
            </a:r>
            <a:endParaRPr lang="ko-KR" altLang="en-US" sz="2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타원 7"/>
          <p:cNvSpPr/>
          <p:nvPr/>
        </p:nvSpPr>
        <p:spPr bwMode="auto">
          <a:xfrm>
            <a:off x="8457804" y="6321991"/>
            <a:ext cx="588778" cy="476071"/>
          </a:xfrm>
          <a:prstGeom prst="ellipse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11</a:t>
            </a:r>
            <a:endParaRPr kumimoji="1" lang="ko-KR" altLang="en-US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70310" y="3943222"/>
            <a:ext cx="7087592" cy="19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266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그림 20" descr="3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3847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7" name="그림 23" descr="4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60350"/>
            <a:ext cx="2447925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8" name="그림 24" descr="6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00113" y="549275"/>
            <a:ext cx="862012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9" name="그림 25" descr="7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88125" y="-371475"/>
            <a:ext cx="12858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0" y="4749896"/>
            <a:ext cx="9143999" cy="1107996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/>
          <a:p>
            <a:pPr algn="ctr" eaLnBrk="1" latinLnBrk="1" hangingPunct="1">
              <a:defRPr/>
            </a:pPr>
            <a:r>
              <a:rPr lang="ko-KR" altLang="en-US" sz="6600" spc="-15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HY울릉도M" pitchFamily="18" charset="-127"/>
                <a:ea typeface="HY견고딕" pitchFamily="18" charset="-127"/>
                <a:cs typeface="Arial" pitchFamily="34" charset="0"/>
              </a:rPr>
              <a:t>감사합니다</a:t>
            </a:r>
          </a:p>
        </p:txBody>
      </p:sp>
      <p:pic>
        <p:nvPicPr>
          <p:cNvPr id="98311" name="그림 30" descr="10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35271" r="62500"/>
          <a:stretch>
            <a:fillRect/>
          </a:stretch>
        </p:blipFill>
        <p:spPr bwMode="auto">
          <a:xfrm>
            <a:off x="6300788" y="2060575"/>
            <a:ext cx="863600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2" name="그림 31" descr="6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89988" cy="362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3" name="그림 33" descr="1.pn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83022" b="48099"/>
          <a:stretch>
            <a:fillRect/>
          </a:stretch>
        </p:blipFill>
        <p:spPr bwMode="auto">
          <a:xfrm>
            <a:off x="8639175" y="1844675"/>
            <a:ext cx="5048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4" name="그림 34" descr="10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9375" b="29459"/>
          <a:stretch>
            <a:fillRect/>
          </a:stretch>
        </p:blipFill>
        <p:spPr bwMode="auto">
          <a:xfrm>
            <a:off x="7596188" y="2636838"/>
            <a:ext cx="93662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물결 35"/>
          <p:cNvSpPr/>
          <p:nvPr/>
        </p:nvSpPr>
        <p:spPr>
          <a:xfrm>
            <a:off x="0" y="3829050"/>
            <a:ext cx="9144000" cy="279400"/>
          </a:xfrm>
          <a:prstGeom prst="wave">
            <a:avLst>
              <a:gd name="adj1" fmla="val 20000"/>
              <a:gd name="adj2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7" name="물결 36"/>
          <p:cNvSpPr/>
          <p:nvPr/>
        </p:nvSpPr>
        <p:spPr>
          <a:xfrm>
            <a:off x="0" y="3924300"/>
            <a:ext cx="9144000" cy="280988"/>
          </a:xfrm>
          <a:prstGeom prst="wave">
            <a:avLst>
              <a:gd name="adj1" fmla="val 20000"/>
              <a:gd name="adj2" fmla="val 0"/>
            </a:avLst>
          </a:prstGeom>
          <a:solidFill>
            <a:srgbClr val="76B5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8317" name="Picture 1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69025" y="0"/>
            <a:ext cx="296703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7984405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고급 종이">
  <a:themeElements>
    <a:clrScheme name="">
      <a:dk1>
        <a:srgbClr val="00264C"/>
      </a:dk1>
      <a:lt1>
        <a:srgbClr val="FFFFFF"/>
      </a:lt1>
      <a:dk2>
        <a:srgbClr val="333333"/>
      </a:dk2>
      <a:lt2>
        <a:srgbClr val="333333"/>
      </a:lt2>
      <a:accent1>
        <a:srgbClr val="78C0B2"/>
      </a:accent1>
      <a:accent2>
        <a:srgbClr val="262D4C"/>
      </a:accent2>
      <a:accent3>
        <a:srgbClr val="FFFFFF"/>
      </a:accent3>
      <a:accent4>
        <a:srgbClr val="001F40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고급 종이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1" i="0" u="none" strike="noStrike" cap="none" normalizeH="0" baseline="0" dirty="0" smtClean="0">
            <a:ln>
              <a:noFill/>
            </a:ln>
            <a:solidFill>
              <a:srgbClr val="FF0000"/>
            </a:solidFill>
            <a:effectLst/>
            <a:latin typeface="HY헤드라인M" pitchFamily="18" charset="-127"/>
            <a:ea typeface="HY헤드라인M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Y헤드라인M" pitchFamily="18" charset="-127"/>
            <a:ea typeface="HY헤드라인M" pitchFamily="18" charset="-127"/>
          </a:defRPr>
        </a:defPPr>
      </a:lstStyle>
    </a:lnDef>
  </a:objectDefaults>
  <a:extraClrSchemeLst>
    <a:extraClrScheme>
      <a:clrScheme name="고급 종이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고급 종이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고급 종이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고급 종이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고급 종이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38040</TotalTime>
  <Words>747</Words>
  <Application>Microsoft Office PowerPoint</Application>
  <PresentationFormat>화면 슬라이드 쇼(4:3)</PresentationFormat>
  <Paragraphs>153</Paragraphs>
  <Slides>12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고급 종이</vt:lpstr>
      <vt:lpstr>기본 디자인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Company>Waston Wyatt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국민연금 Proposal</dc:title>
  <dc:creator>Sunyoung Jung, Sangjun Ahn</dc:creator>
  <cp:lastModifiedBy>급식센터04</cp:lastModifiedBy>
  <cp:revision>3547</cp:revision>
  <cp:lastPrinted>2015-07-21T08:15:00Z</cp:lastPrinted>
  <dcterms:created xsi:type="dcterms:W3CDTF">2001-04-06T23:20:30Z</dcterms:created>
  <dcterms:modified xsi:type="dcterms:W3CDTF">2016-04-07T07:09:46Z</dcterms:modified>
</cp:coreProperties>
</file>